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embeddedFontLst>
    <p:embeddedFont>
      <p:font typeface="DM Sans" pitchFamily="34" charset="0"/>
      <p:regular r:id="rId17"/>
      <p:bold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ToxWatch is our DEPI graduation project: an AI assistant that gives an emergency doctor a cited, safety-checked first answer for a poisoned patient. The AI drafts; the clinician always decides. All data in the project is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problem. One poison centre in Cairo treated 21,492 patients in a single year. Decisions must be fast, but at night there may be no toxicologist. That night-shift gap is our hypothesis, and general chatbots answer without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ideas define the solution: cited answers, a risk tier on every question, human approval for critical cases, and masking of identifiers before any model sees them. The AI never makes the final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case from the investor deck. Egypt is the beachhead: 1,555 private hospitals and about 70,000 pharmacies make a EGP 345 m yearly market at our list prices. The serviceable market is private hospitals at EGP 60,000 each, and year three targets 70 hospitals. Prices are assumptions still to test. The ask is EGP 3.5 m pre-seed.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top row left to right: the clinician asks, W1 masks identifiers and checks for injection, W2 sets the risk tier, W3 calculates doses and retrieves cited facts, and W1 drafts the answer. Critical cases wait for doctor approval by email. W4 keeps the reference PDFs in the vector store. Every run is traced in LangSmith, scored by the judge in W6, and W5 sends alerts by Telegram.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 1 is the front door. It checks who is sending the message, turns voice into text, masks identifiers, and blocks injection and self-harm requests before any model sees the text. Then it asks the Risk Router for a tier, calls the Case Analyzer, and the Advisor agent writes the answer with openFDA and PubMed as fallbacks. The same workflow also turns an approved voice note into a SOAP note and a plain-language Arabic patient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 2 decides how much care a question needs. A rule-based floor and an LLM both set the tier, and the higher one wins; if the model fails, the tier goes up to high. Low questions use the local Llama model, medium uses Gemini Flash, high adds an independent verifier, and critical always waits for a doctor to approve by email. When the Advisor calls it in classify-only mode, medium and high go on to the full Case Analyzer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 3 is the analyst the Advisor calls. It has two tools: a dose calculator that handles paracetamol in English and Arabic, and a reference search that must be called at least twice, followed by a Cohere rerank that keeps the best three passages. Workflow 4 feeds that search: any new PDF in the Medical Pharm Drive folder is read, split with overlap, embedded with Gemini and saved with its source details. If a file cannot be read, a Telegram message tells the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 5 is the safety net. Every fifteen minutes it pulls recent runs from LangSmith and an independent judge model scores each one on five dimensions. A safety score of one pauses the whole system until a person resumes it. Lower averages only raise Telegram alerts. This is the same judge that scored 5.0 against the humans' 4.0 to 4.6 in the test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Outcomes: six running workflows, a test report with three scenarios and 22 logged issues, the business brief and solution design, and this pitch with a human scoring sheet. In scenarios one and two the AI judge scored 5.0 and human reviewers 4.0 to 4.6. Scenario three showed a critical case held for a doctor and then approved. Close with: the AI drafts, a clinician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7F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0139"/>
            <a:ext cx="10566400" cy="433070"/>
          </a:xfrm>
          <a:prstGeom prst="rect">
            <a:avLst/>
          </a:prstGeom>
          <a:noFill/>
          <a:ln/>
        </p:spPr>
        <p:txBody>
          <a:bodyPr wrap="square" lIns="0" tIns="0" rIns="0" bIns="0" rtlCol="0" anchor="t"/>
          <a:lstStyle>
            <a:lvl1pPr algn="l" indent="0" marL="0">
              <a:lnSpc>
                <a:spcPct val="115000"/>
              </a:lnSpc>
              <a:buNone/>
              <a:defRPr lang="en-US" sz="3100" dirty="0">
                <a:solidFill>
                  <a:srgbClr val="121F54"/>
                </a:solidFill>
                <a:latin typeface="DM Sans" pitchFamily="34" charset="0"/>
                <a:ea typeface="DM Sans" pitchFamily="34" charset="-122"/>
                <a:cs typeface="DM Sans" pitchFamily="34" charset="-120"/>
              </a:defRPr>
            </a:lvl1pPr>
          </a:lstStyle>
          <a:p>
            <a:pPr algn="l" indent="0" marL="0">
              <a:lnSpc>
                <a:spcPct val="115000"/>
              </a:lnSpc>
              <a:buNone/>
            </a:pPr>
            <a:endParaRPr lang="en-US" sz="3100" dirty="0"/>
          </a:p>
        </p:txBody>
      </p:sp>
      <p:sp>
        <p:nvSpPr>
          <p:cNvPr id="3" name="Text Placeholder 2"/>
          <p:cNvSpPr/>
          <p:nvPr>
            <p:ph idx="101" type="body"/>
          </p:nvPr>
        </p:nvSpPr>
        <p:spPr>
          <a:xfrm>
            <a:off x="812800" y="1858009"/>
            <a:ext cx="10566400" cy="4187191"/>
          </a:xfrm>
          <a:prstGeom prst="rect">
            <a:avLst/>
          </a:prstGeom>
          <a:noFill/>
          <a:ln/>
        </p:spPr>
        <p:txBody>
          <a:bodyPr wrap="square" lIns="0" tIns="0" rIns="0" bIns="0" rtlCol="0" anchor="t"/>
          <a:lstStyle>
            <a:lvl1pPr algn="l" indent="0" marL="0">
              <a:lnSpc>
                <a:spcPct val="140000"/>
              </a:lnSpc>
              <a:buNone/>
              <a:defRPr lang="en-US" sz="1600" dirty="0">
                <a:solidFill>
                  <a:srgbClr val="121F54"/>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7F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0139"/>
            <a:ext cx="10566400" cy="433070"/>
          </a:xfrm>
          <a:prstGeom prst="rect">
            <a:avLst/>
          </a:prstGeom>
          <a:noFill/>
          <a:ln/>
        </p:spPr>
        <p:txBody>
          <a:bodyPr wrap="square" lIns="0" tIns="0" rIns="0" bIns="0" rtlCol="0" anchor="t"/>
          <a:lstStyle>
            <a:lvl1pPr algn="l" indent="0" marL="0">
              <a:lnSpc>
                <a:spcPct val="115000"/>
              </a:lnSpc>
              <a:buNone/>
              <a:defRPr lang="en-US" sz="3100" dirty="0">
                <a:solidFill>
                  <a:srgbClr val="121F54"/>
                </a:solidFill>
                <a:latin typeface="DM Sans" pitchFamily="34" charset="0"/>
                <a:ea typeface="DM Sans" pitchFamily="34" charset="-122"/>
                <a:cs typeface="DM Sans" pitchFamily="34" charset="-120"/>
              </a:defRPr>
            </a:lvl1pPr>
          </a:lstStyle>
          <a:p>
            <a:pPr algn="l" indent="0" marL="0">
              <a:lnSpc>
                <a:spcPct val="115000"/>
              </a:lnSpc>
              <a:buNone/>
            </a:pPr>
            <a:endParaRPr lang="en-US" sz="3100" dirty="0"/>
          </a:p>
        </p:txBody>
      </p:sp>
      <p:sp>
        <p:nvSpPr>
          <p:cNvPr id="3" name="Text Placeholder 2"/>
          <p:cNvSpPr/>
          <p:nvPr>
            <p:ph idx="101" type="body"/>
          </p:nvPr>
        </p:nvSpPr>
        <p:spPr>
          <a:xfrm>
            <a:off x="812800" y="1858009"/>
            <a:ext cx="10566400" cy="4187191"/>
          </a:xfrm>
          <a:prstGeom prst="rect">
            <a:avLst/>
          </a:prstGeom>
          <a:noFill/>
          <a:ln/>
        </p:spPr>
        <p:txBody>
          <a:bodyPr wrap="square" lIns="0" tIns="0" rIns="0" bIns="0" rtlCol="0" anchor="t"/>
          <a:lstStyle>
            <a:lvl1pPr algn="l" indent="0" marL="0">
              <a:lnSpc>
                <a:spcPct val="140000"/>
              </a:lnSpc>
              <a:buNone/>
              <a:defRPr lang="en-US" sz="1600" dirty="0">
                <a:solidFill>
                  <a:srgbClr val="121F54"/>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F54"/>
        </a:solidFill>
      </p:bgPr>
    </p:bg>
    <p:spTree>
      <p:nvGrpSpPr>
        <p:cNvPr id="1" name=""/>
        <p:cNvGrpSpPr/>
        <p:nvPr/>
      </p:nvGrpSpPr>
      <p:grpSpPr>
        <a:xfrm>
          <a:off x="0" y="0"/>
          <a:ext cx="0" cy="0"/>
          <a:chOff x="0" y="0"/>
          <a:chExt cx="0" cy="0"/>
        </a:xfrm>
      </p:grpSpPr>
      <p:sp>
        <p:nvSpPr>
          <p:cNvPr id="2" name="Text 0"/>
          <p:cNvSpPr/>
          <p:nvPr/>
        </p:nvSpPr>
        <p:spPr>
          <a:xfrm>
            <a:off x="812800" y="812800"/>
            <a:ext cx="2152967" cy="401320"/>
          </a:xfrm>
          <a:prstGeom prst="roundRect">
            <a:avLst>
              <a:gd name="adj" fmla="val 50000"/>
            </a:avLst>
          </a:prstGeom>
          <a:solidFill>
            <a:srgbClr val="5ED3EA"/>
          </a:solidFill>
          <a:ln/>
        </p:spPr>
        <p:txBody>
          <a:bodyPr wrap="none" lIns="0" tIns="0" rIns="0" bIns="0" rtlCol="0" anchor="ctr">
            <a:normAutofit/>
          </a:bodyPr>
          <a:lstStyle/>
          <a:p>
            <a:pPr algn="ctr" indent="0" marL="0">
              <a:lnSpc>
                <a:spcPts val="1960"/>
              </a:lnSpc>
              <a:buNone/>
            </a:pPr>
            <a:r>
              <a:rPr lang="en-US" sz="1400" b="1" dirty="0">
                <a:solidFill>
                  <a:srgbClr val="121F54"/>
                </a:solidFill>
                <a:latin typeface="DM Sans" pitchFamily="34" charset="0"/>
                <a:ea typeface="DM Sans" pitchFamily="34" charset="-122"/>
                <a:cs typeface="DM Sans" pitchFamily="34" charset="-120"/>
              </a:rPr>
              <a:t>DEPI · Track IND3-G2</a:t>
            </a:r>
            <a:endParaRPr lang="en-US" sz="1400" dirty="0"/>
          </a:p>
        </p:txBody>
      </p:sp>
      <p:sp>
        <p:nvSpPr>
          <p:cNvPr id="3" name="Text 1"/>
          <p:cNvSpPr/>
          <p:nvPr/>
        </p:nvSpPr>
        <p:spPr>
          <a:xfrm>
            <a:off x="3118167" y="889000"/>
            <a:ext cx="31109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6E8"/>
                </a:solidFill>
                <a:latin typeface="DM Sans" pitchFamily="34" charset="0"/>
                <a:ea typeface="DM Sans" pitchFamily="34" charset="-122"/>
                <a:cs typeface="DM Sans" pitchFamily="34" charset="-120"/>
              </a:rPr>
              <a:t>Digital Egypt Pioneers Initiative</a:t>
            </a:r>
            <a:endParaRPr lang="en-US" sz="1400" dirty="0"/>
          </a:p>
        </p:txBody>
      </p:sp>
      <p:sp>
        <p:nvSpPr>
          <p:cNvPr id="4" name="Text 2"/>
          <p:cNvSpPr/>
          <p:nvPr>
            <p:ph type="title"/>
          </p:nvPr>
        </p:nvSpPr>
        <p:spPr>
          <a:xfrm>
            <a:off x="812800" y="2155190"/>
            <a:ext cx="10883392" cy="1549400"/>
          </a:xfrm>
          <a:prstGeom prst="rect">
            <a:avLst/>
          </a:prstGeom>
          <a:noFill/>
          <a:ln/>
        </p:spPr>
        <p:txBody>
          <a:bodyPr wrap="square" lIns="0" tIns="0" rIns="0" bIns="0" rtlCol="0" anchor="t">
            <a:normAutofit/>
          </a:bodyPr>
          <a:lstStyle/>
          <a:p>
            <a:pPr algn="l" indent="0" marL="0">
              <a:lnSpc>
                <a:spcPts val="12000"/>
              </a:lnSpc>
              <a:buNone/>
            </a:pPr>
            <a:r>
              <a:rPr lang="en-US" sz="12000" b="1" i="0" dirty="0">
                <a:solidFill>
                  <a:srgbClr val="FFFFFF"/>
                </a:solidFill>
                <a:latin typeface="DM Sans" pitchFamily="34" charset="0"/>
                <a:ea typeface="DM Sans" pitchFamily="34" charset="-122"/>
                <a:cs typeface="DM Sans" pitchFamily="34" charset="-120"/>
              </a:rPr>
              <a:t>Tox</a:t>
            </a:r>
            <a:r>
              <a:rPr lang="en-US" sz="12000" b="1" i="0" dirty="0">
                <a:solidFill>
                  <a:srgbClr val="5ED3EA"/>
                </a:solidFill>
                <a:latin typeface="DM Sans" pitchFamily="34" charset="0"/>
                <a:ea typeface="DM Sans" pitchFamily="34" charset="-122"/>
                <a:cs typeface="DM Sans" pitchFamily="34" charset="-120"/>
              </a:rPr>
              <a:t>Watch</a:t>
            </a:r>
            <a:endParaRPr lang="en-US" sz="12000" dirty="0"/>
          </a:p>
        </p:txBody>
      </p:sp>
      <p:sp>
        <p:nvSpPr>
          <p:cNvPr id="5" name="Text 3"/>
          <p:cNvSpPr/>
          <p:nvPr/>
        </p:nvSpPr>
        <p:spPr>
          <a:xfrm>
            <a:off x="812800" y="3831590"/>
            <a:ext cx="10883392" cy="469900"/>
          </a:xfrm>
          <a:prstGeom prst="rect">
            <a:avLst/>
          </a:prstGeom>
          <a:noFill/>
          <a:ln/>
        </p:spPr>
        <p:txBody>
          <a:bodyPr wrap="square" lIns="0" tIns="0" rIns="0" bIns="0" rtlCol="0" anchor="t">
            <a:normAutofit/>
          </a:bodyPr>
          <a:lstStyle/>
          <a:p>
            <a:pPr algn="l" indent="0" marL="0">
              <a:lnSpc>
                <a:spcPts val="3500"/>
              </a:lnSpc>
              <a:buNone/>
            </a:pPr>
            <a:r>
              <a:rPr lang="en-US" sz="2800" dirty="0">
                <a:solidFill>
                  <a:srgbClr val="DCE6FF"/>
                </a:solidFill>
                <a:latin typeface="DM Sans" pitchFamily="34" charset="0"/>
                <a:ea typeface="DM Sans" pitchFamily="34" charset="-122"/>
                <a:cs typeface="DM Sans" pitchFamily="34" charset="-120"/>
              </a:rPr>
              <a:t>A safety-checked AI first answer for poisoned patients</a:t>
            </a:r>
            <a:endParaRPr lang="en-US" sz="2800" dirty="0"/>
          </a:p>
        </p:txBody>
      </p:sp>
      <p:sp>
        <p:nvSpPr>
          <p:cNvPr id="6" name="Text 4"/>
          <p:cNvSpPr/>
          <p:nvPr/>
        </p:nvSpPr>
        <p:spPr>
          <a:xfrm>
            <a:off x="812800" y="5217160"/>
            <a:ext cx="2850198" cy="401320"/>
          </a:xfrm>
          <a:prstGeom prst="roundRect">
            <a:avLst>
              <a:gd name="adj" fmla="val 50000"/>
            </a:avLst>
          </a:prstGeom>
          <a:solidFill>
            <a:srgbClr val="F6A54F"/>
          </a:solidFill>
          <a:ln/>
        </p:spPr>
        <p:txBody>
          <a:bodyPr wrap="none" lIns="0" tIns="0" rIns="0" bIns="0" rtlCol="0" anchor="ctr">
            <a:normAutofit/>
          </a:bodyPr>
          <a:lstStyle/>
          <a:p>
            <a:pPr algn="ctr" indent="0" marL="0">
              <a:lnSpc>
                <a:spcPts val="1960"/>
              </a:lnSpc>
              <a:buNone/>
            </a:pPr>
            <a:r>
              <a:rPr lang="en-US" sz="1400" b="1" dirty="0">
                <a:solidFill>
                  <a:srgbClr val="121F54"/>
                </a:solidFill>
                <a:latin typeface="DM Sans" pitchFamily="34" charset="0"/>
                <a:ea typeface="DM Sans" pitchFamily="34" charset="-122"/>
                <a:cs typeface="DM Sans" pitchFamily="34" charset="-120"/>
              </a:rPr>
              <a:t>AI drafts · a clinician decides</a:t>
            </a:r>
            <a:endParaRPr lang="en-US" sz="1400" dirty="0"/>
          </a:p>
        </p:txBody>
      </p:sp>
      <p:sp>
        <p:nvSpPr>
          <p:cNvPr id="7" name="Text 5"/>
          <p:cNvSpPr/>
          <p:nvPr/>
        </p:nvSpPr>
        <p:spPr>
          <a:xfrm>
            <a:off x="3796347" y="5223510"/>
            <a:ext cx="4158721" cy="388620"/>
          </a:xfrm>
          <a:prstGeom prst="roundRect">
            <a:avLst>
              <a:gd name="adj" fmla="val 50000"/>
            </a:avLst>
          </a:prstGeom>
          <a:noFill/>
          <a:ln w="12700">
            <a:solidFill>
              <a:srgbClr val="5C6FB0"/>
            </a:solidFill>
            <a:prstDash val="solid"/>
          </a:ln>
        </p:spPr>
        <p:txBody>
          <a:bodyPr wrap="none" lIns="0" tIns="0" rIns="0" bIns="0" rtlCol="0" anchor="ctr">
            <a:normAutofit/>
          </a:bodyPr>
          <a:lstStyle/>
          <a:p>
            <a:pPr algn="ctr" indent="0" marL="0">
              <a:lnSpc>
                <a:spcPts val="1960"/>
              </a:lnSpc>
              <a:buNone/>
            </a:pPr>
            <a:r>
              <a:rPr lang="en-US" sz="1400" dirty="0">
                <a:solidFill>
                  <a:srgbClr val="DCE6FF"/>
                </a:solidFill>
                <a:latin typeface="DM Sans" pitchFamily="34" charset="0"/>
                <a:ea typeface="DM Sans" pitchFamily="34" charset="-122"/>
                <a:cs typeface="DM Sans" pitchFamily="34" charset="-120"/>
              </a:rPr>
              <a:t>Graduation project · n8n · synthetic data only</a:t>
            </a:r>
            <a:endParaRPr lang="en-US" sz="1400" dirty="0"/>
          </a:p>
        </p:txBody>
      </p:sp>
      <p:sp>
        <p:nvSpPr>
          <p:cNvPr id="8" name="Text 6"/>
          <p:cNvSpPr/>
          <p:nvPr/>
        </p:nvSpPr>
        <p:spPr>
          <a:xfrm>
            <a:off x="812800" y="57962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9C6E8"/>
                </a:solidFill>
                <a:latin typeface="DM Sans" pitchFamily="34" charset="0"/>
                <a:ea typeface="DM Sans" pitchFamily="34" charset="-122"/>
                <a:cs typeface="DM Sans" pitchFamily="34" charset="-120"/>
              </a:rPr>
              <a:t>Dr. Heba Kamal · Dr. Rania Sabri · Dr. Reem Saleh · Dr. Sali Ali · Dr. Yasmin Kamal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3560A"/>
                </a:solidFill>
                <a:latin typeface="DM Sans" pitchFamily="34" charset="0"/>
                <a:ea typeface="DM Sans" pitchFamily="34" charset="-122"/>
                <a:cs typeface="DM Sans" pitchFamily="34" charset="-120"/>
              </a:rPr>
              <a:t>PROBLEM</a:t>
            </a:r>
            <a:endParaRPr lang="en-US" sz="1300" dirty="0"/>
          </a:p>
        </p:txBody>
      </p:sp>
      <p:sp>
        <p:nvSpPr>
          <p:cNvPr id="3" name="Text 1"/>
          <p:cNvSpPr/>
          <p:nvPr>
            <p:ph type="title"/>
          </p:nvPr>
        </p:nvSpPr>
        <p:spPr>
          <a:xfrm>
            <a:off x="812800" y="1120140"/>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21F54"/>
                </a:solidFill>
                <a:latin typeface="DM Sans" pitchFamily="34" charset="0"/>
                <a:ea typeface="DM Sans" pitchFamily="34" charset="-122"/>
                <a:cs typeface="DM Sans" pitchFamily="34" charset="-120"/>
              </a:rPr>
              <a:t>Poisoning doesn’t wait for the day shift</a:t>
            </a:r>
            <a:endParaRPr lang="en-US" sz="3400" dirty="0"/>
          </a:p>
        </p:txBody>
      </p:sp>
      <p:sp>
        <p:nvSpPr>
          <p:cNvPr id="4" name="Shape 2"/>
          <p:cNvSpPr/>
          <p:nvPr/>
        </p:nvSpPr>
        <p:spPr>
          <a:xfrm>
            <a:off x="812800" y="1849120"/>
            <a:ext cx="4064000" cy="3992880"/>
          </a:xfrm>
          <a:prstGeom prst="roundRect">
            <a:avLst>
              <a:gd name="adj" fmla="val 4453"/>
            </a:avLst>
          </a:prstGeom>
          <a:solidFill>
            <a:srgbClr val="121F54"/>
          </a:solidFill>
          <a:ln/>
        </p:spPr>
      </p:sp>
      <p:sp>
        <p:nvSpPr>
          <p:cNvPr id="5" name="Text 3"/>
          <p:cNvSpPr/>
          <p:nvPr/>
        </p:nvSpPr>
        <p:spPr>
          <a:xfrm>
            <a:off x="1117600" y="2924810"/>
            <a:ext cx="3558032" cy="838200"/>
          </a:xfrm>
          <a:prstGeom prst="rect">
            <a:avLst/>
          </a:prstGeom>
          <a:noFill/>
          <a:ln/>
        </p:spPr>
        <p:txBody>
          <a:bodyPr wrap="square" lIns="0" tIns="0" rIns="0" bIns="0" rtlCol="0" anchor="t">
            <a:normAutofit/>
          </a:bodyPr>
          <a:lstStyle/>
          <a:p>
            <a:pPr algn="l" indent="0" marL="0">
              <a:lnSpc>
                <a:spcPts val="6400"/>
              </a:lnSpc>
              <a:buNone/>
            </a:pPr>
            <a:r>
              <a:rPr lang="en-US" sz="6400" b="1" dirty="0">
                <a:solidFill>
                  <a:srgbClr val="FFFFFF"/>
                </a:solidFill>
                <a:latin typeface="DM Sans" pitchFamily="34" charset="0"/>
                <a:ea typeface="DM Sans" pitchFamily="34" charset="-122"/>
                <a:cs typeface="DM Sans" pitchFamily="34" charset="-120"/>
              </a:rPr>
              <a:t>21,492</a:t>
            </a:r>
            <a:endParaRPr lang="en-US" sz="6400" dirty="0"/>
          </a:p>
        </p:txBody>
      </p:sp>
      <p:sp>
        <p:nvSpPr>
          <p:cNvPr id="6" name="Text 4"/>
          <p:cNvSpPr/>
          <p:nvPr/>
        </p:nvSpPr>
        <p:spPr>
          <a:xfrm>
            <a:off x="1117600" y="3839210"/>
            <a:ext cx="3558032" cy="6197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DCE6FF"/>
                </a:solidFill>
                <a:latin typeface="DM Sans" pitchFamily="34" charset="0"/>
                <a:ea typeface="DM Sans" pitchFamily="34" charset="-122"/>
                <a:cs typeface="DM Sans" pitchFamily="34" charset="-120"/>
              </a:rPr>
              <a:t>patients treated at one centre in 2019</a:t>
            </a:r>
            <a:endParaRPr lang="en-US" sz="1800" dirty="0"/>
          </a:p>
        </p:txBody>
      </p:sp>
      <p:sp>
        <p:nvSpPr>
          <p:cNvPr id="7" name="Text 5"/>
          <p:cNvSpPr/>
          <p:nvPr/>
        </p:nvSpPr>
        <p:spPr>
          <a:xfrm>
            <a:off x="1117600" y="4535170"/>
            <a:ext cx="355803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7FDCF0"/>
                </a:solidFill>
                <a:latin typeface="DM Sans" pitchFamily="34" charset="0"/>
                <a:ea typeface="DM Sans" pitchFamily="34" charset="-122"/>
                <a:cs typeface="DM Sans" pitchFamily="34" charset="-120"/>
              </a:rPr>
              <a:t>Ain Shams Poison Control Center</a:t>
            </a:r>
            <a:endParaRPr lang="en-US" sz="1300" dirty="0"/>
          </a:p>
        </p:txBody>
      </p:sp>
      <p:sp>
        <p:nvSpPr>
          <p:cNvPr id="8" name="Shape 6"/>
          <p:cNvSpPr/>
          <p:nvPr/>
        </p:nvSpPr>
        <p:spPr>
          <a:xfrm>
            <a:off x="5083175" y="1852295"/>
            <a:ext cx="6292850" cy="1223010"/>
          </a:xfrm>
          <a:prstGeom prst="roundRect">
            <a:avLst>
              <a:gd name="adj" fmla="val 10125"/>
            </a:avLst>
          </a:prstGeom>
          <a:solidFill>
            <a:srgbClr val="FFFFFF"/>
          </a:solidFill>
          <a:ln w="6350">
            <a:solidFill>
              <a:srgbClr val="D9E1F2"/>
            </a:solidFill>
            <a:prstDash val="solid"/>
          </a:ln>
        </p:spPr>
      </p:sp>
      <p:sp>
        <p:nvSpPr>
          <p:cNvPr id="9" name="Text 7"/>
          <p:cNvSpPr/>
          <p:nvPr/>
        </p:nvSpPr>
        <p:spPr>
          <a:xfrm>
            <a:off x="5340350" y="2044700"/>
            <a:ext cx="5951855"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1F54"/>
                </a:solidFill>
                <a:latin typeface="DM Sans" pitchFamily="34" charset="0"/>
                <a:ea typeface="DM Sans" pitchFamily="34" charset="-122"/>
                <a:cs typeface="DM Sans" pitchFamily="34" charset="-120"/>
              </a:rPr>
              <a:t>Poisoning decisions need speed</a:t>
            </a:r>
            <a:endParaRPr lang="en-US" sz="1900" dirty="0"/>
          </a:p>
        </p:txBody>
      </p:sp>
      <p:sp>
        <p:nvSpPr>
          <p:cNvPr id="10" name="Text 8"/>
          <p:cNvSpPr/>
          <p:nvPr/>
        </p:nvSpPr>
        <p:spPr>
          <a:xfrm>
            <a:off x="5340350" y="2385060"/>
            <a:ext cx="595185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18A"/>
                </a:solidFill>
                <a:latin typeface="DM Sans" pitchFamily="34" charset="0"/>
                <a:ea typeface="DM Sans" pitchFamily="34" charset="-122"/>
                <a:cs typeface="DM Sans" pitchFamily="34" charset="-120"/>
              </a:rPr>
              <a:t>Early decisions decide outcomes, e.g. aluminum phosphide mortality of 40–80%.</a:t>
            </a:r>
            <a:endParaRPr lang="en-US" sz="1400" dirty="0"/>
          </a:p>
        </p:txBody>
      </p:sp>
      <p:sp>
        <p:nvSpPr>
          <p:cNvPr id="11" name="Shape 9"/>
          <p:cNvSpPr/>
          <p:nvPr/>
        </p:nvSpPr>
        <p:spPr>
          <a:xfrm>
            <a:off x="5083175" y="3234055"/>
            <a:ext cx="6292850" cy="1223010"/>
          </a:xfrm>
          <a:prstGeom prst="roundRect">
            <a:avLst>
              <a:gd name="adj" fmla="val 10125"/>
            </a:avLst>
          </a:prstGeom>
          <a:solidFill>
            <a:srgbClr val="FFFFFF"/>
          </a:solidFill>
          <a:ln w="6350">
            <a:solidFill>
              <a:srgbClr val="D9E1F2"/>
            </a:solidFill>
            <a:prstDash val="solid"/>
          </a:ln>
        </p:spPr>
      </p:sp>
      <p:sp>
        <p:nvSpPr>
          <p:cNvPr id="12" name="Text 10"/>
          <p:cNvSpPr/>
          <p:nvPr/>
        </p:nvSpPr>
        <p:spPr>
          <a:xfrm>
            <a:off x="5340350" y="3426460"/>
            <a:ext cx="5951855"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1F54"/>
                </a:solidFill>
                <a:latin typeface="DM Sans" pitchFamily="34" charset="0"/>
                <a:ea typeface="DM Sans" pitchFamily="34" charset="-122"/>
                <a:cs typeface="DM Sans" pitchFamily="34" charset="-120"/>
              </a:rPr>
              <a:t>No toxicologist at night (hypothesis)</a:t>
            </a:r>
            <a:endParaRPr lang="en-US" sz="1900" dirty="0"/>
          </a:p>
        </p:txBody>
      </p:sp>
      <p:sp>
        <p:nvSpPr>
          <p:cNvPr id="13" name="Text 11"/>
          <p:cNvSpPr/>
          <p:nvPr/>
        </p:nvSpPr>
        <p:spPr>
          <a:xfrm>
            <a:off x="5340350" y="3766820"/>
            <a:ext cx="595185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18A"/>
                </a:solidFill>
                <a:latin typeface="DM Sans" pitchFamily="34" charset="0"/>
                <a:ea typeface="DM Sans" pitchFamily="34" charset="-122"/>
                <a:cs typeface="DM Sans" pitchFamily="34" charset="-120"/>
              </a:rPr>
              <a:t>Specialists sit in a few university centres; the on-call doctor phones around or searches the web.</a:t>
            </a:r>
            <a:endParaRPr lang="en-US" sz="1400" dirty="0"/>
          </a:p>
        </p:txBody>
      </p:sp>
      <p:sp>
        <p:nvSpPr>
          <p:cNvPr id="14" name="Shape 12"/>
          <p:cNvSpPr/>
          <p:nvPr/>
        </p:nvSpPr>
        <p:spPr>
          <a:xfrm>
            <a:off x="5083175" y="4615815"/>
            <a:ext cx="6292850" cy="1223010"/>
          </a:xfrm>
          <a:prstGeom prst="roundRect">
            <a:avLst>
              <a:gd name="adj" fmla="val 10125"/>
            </a:avLst>
          </a:prstGeom>
          <a:solidFill>
            <a:srgbClr val="FFFFFF"/>
          </a:solidFill>
          <a:ln w="6350">
            <a:solidFill>
              <a:srgbClr val="D9E1F2"/>
            </a:solidFill>
            <a:prstDash val="solid"/>
          </a:ln>
        </p:spPr>
      </p:sp>
      <p:sp>
        <p:nvSpPr>
          <p:cNvPr id="15" name="Text 13"/>
          <p:cNvSpPr/>
          <p:nvPr/>
        </p:nvSpPr>
        <p:spPr>
          <a:xfrm>
            <a:off x="5340350" y="4808220"/>
            <a:ext cx="5951855" cy="31496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21F54"/>
                </a:solidFill>
                <a:latin typeface="DM Sans" pitchFamily="34" charset="0"/>
                <a:ea typeface="DM Sans" pitchFamily="34" charset="-122"/>
                <a:cs typeface="DM Sans" pitchFamily="34" charset="-120"/>
              </a:rPr>
              <a:t>Chatbot answers: no sources</a:t>
            </a:r>
            <a:endParaRPr lang="en-US" sz="1900" dirty="0"/>
          </a:p>
        </p:txBody>
      </p:sp>
      <p:sp>
        <p:nvSpPr>
          <p:cNvPr id="16" name="Text 14"/>
          <p:cNvSpPr/>
          <p:nvPr/>
        </p:nvSpPr>
        <p:spPr>
          <a:xfrm>
            <a:off x="5340350" y="5148580"/>
            <a:ext cx="595185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18A"/>
                </a:solidFill>
                <a:latin typeface="DM Sans" pitchFamily="34" charset="0"/>
                <a:ea typeface="DM Sans" pitchFamily="34" charset="-122"/>
                <a:cs typeface="DM Sans" pitchFamily="34" charset="-120"/>
              </a:rPr>
              <a:t>General chatbots give uncited answers, and patient identifiers get pasted into them.</a:t>
            </a:r>
            <a:endParaRPr lang="en-US" sz="1400" dirty="0"/>
          </a:p>
        </p:txBody>
      </p:sp>
      <p:sp>
        <p:nvSpPr>
          <p:cNvPr id="17" name="Text 15"/>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8A"/>
                </a:solidFill>
                <a:latin typeface="DM Sans" pitchFamily="34" charset="0"/>
                <a:ea typeface="DM Sans" pitchFamily="34" charset="-122"/>
                <a:cs typeface="DM Sans" pitchFamily="34" charset="-120"/>
              </a:rPr>
              <a:t>ToxWatch · DEPI Track IND3-G2 · synthetic data only</a:t>
            </a:r>
            <a:endParaRPr lang="en-US" sz="1200" dirty="0"/>
          </a:p>
        </p:txBody>
      </p:sp>
      <p:sp>
        <p:nvSpPr>
          <p:cNvPr id="18" name="Text 16"/>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18A"/>
                </a:solidFill>
                <a:latin typeface="DM Sans" pitchFamily="34" charset="0"/>
                <a:ea typeface="DM Sans" pitchFamily="34" charset="-122"/>
                <a:cs typeface="DM Sans" pitchFamily="34" charset="-120"/>
              </a:rPr>
              <a:t>2 /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087A92"/>
                </a:solidFill>
                <a:latin typeface="DM Sans" pitchFamily="34" charset="0"/>
                <a:ea typeface="DM Sans" pitchFamily="34" charset="-122"/>
                <a:cs typeface="DM Sans" pitchFamily="34" charset="-120"/>
              </a:rPr>
              <a:t>SOLUTION</a:t>
            </a:r>
            <a:endParaRPr lang="en-US" sz="1300" dirty="0"/>
          </a:p>
        </p:txBody>
      </p:sp>
      <p:sp>
        <p:nvSpPr>
          <p:cNvPr id="3" name="Text 1"/>
          <p:cNvSpPr/>
          <p:nvPr>
            <p:ph type="title"/>
          </p:nvPr>
        </p:nvSpPr>
        <p:spPr>
          <a:xfrm>
            <a:off x="812800" y="1120139"/>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121F54"/>
                </a:solidFill>
                <a:latin typeface="DM Sans" pitchFamily="34" charset="0"/>
                <a:ea typeface="DM Sans" pitchFamily="34" charset="-122"/>
                <a:cs typeface="DM Sans" pitchFamily="34" charset="-120"/>
              </a:rPr>
              <a:t>A cited, safety-checked first answer</a:t>
            </a:r>
            <a:endParaRPr lang="en-US" sz="3400" dirty="0"/>
          </a:p>
        </p:txBody>
      </p:sp>
      <p:sp>
        <p:nvSpPr>
          <p:cNvPr id="4" name="Shape 2"/>
          <p:cNvSpPr/>
          <p:nvPr/>
        </p:nvSpPr>
        <p:spPr>
          <a:xfrm>
            <a:off x="815975" y="1852295"/>
            <a:ext cx="2520950" cy="2617470"/>
          </a:xfrm>
          <a:prstGeom prst="roundRect">
            <a:avLst>
              <a:gd name="adj" fmla="val 5919"/>
            </a:avLst>
          </a:prstGeom>
          <a:solidFill>
            <a:srgbClr val="FFFFFF"/>
          </a:solidFill>
          <a:ln w="6350">
            <a:solidFill>
              <a:srgbClr val="D9E1F2"/>
            </a:solidFill>
            <a:prstDash val="solid"/>
          </a:ln>
        </p:spPr>
      </p:sp>
      <p:sp>
        <p:nvSpPr>
          <p:cNvPr id="5" name="Shape 3"/>
          <p:cNvSpPr/>
          <p:nvPr/>
        </p:nvSpPr>
        <p:spPr>
          <a:xfrm>
            <a:off x="1022350" y="2058670"/>
            <a:ext cx="457200" cy="457200"/>
          </a:xfrm>
          <a:prstGeom prst="roundRect">
            <a:avLst>
              <a:gd name="adj" fmla="val 25000"/>
            </a:avLst>
          </a:prstGeom>
          <a:solidFill>
            <a:srgbClr val="ECE6FA"/>
          </a:solidFill>
          <a:ln/>
        </p:spPr>
      </p:sp>
      <p:pic>
        <p:nvPicPr>
          <p:cNvPr id="6" name="Image 0" descr="Verified">    </p:cNvPr>
          <p:cNvPicPr>
            <a:picLocks noChangeAspect="1"/>
          </p:cNvPicPr>
          <p:nvPr/>
        </p:nvPicPr>
        <p:blipFill>
          <a:blip r:embed="rId1"/>
          <a:srcRect l="0" r="0" t="0" b="0"/>
          <a:stretch/>
        </p:blipFill>
        <p:spPr>
          <a:xfrm>
            <a:off x="1123950" y="2160270"/>
            <a:ext cx="254000" cy="254000"/>
          </a:xfrm>
          <a:prstGeom prst="rect">
            <a:avLst/>
          </a:prstGeom>
        </p:spPr>
      </p:pic>
      <p:sp>
        <p:nvSpPr>
          <p:cNvPr id="7" name="Text 4"/>
          <p:cNvSpPr/>
          <p:nvPr/>
        </p:nvSpPr>
        <p:spPr>
          <a:xfrm>
            <a:off x="1022350" y="2617470"/>
            <a:ext cx="2171446"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F54"/>
                </a:solidFill>
                <a:latin typeface="DM Sans" pitchFamily="34" charset="0"/>
                <a:ea typeface="DM Sans" pitchFamily="34" charset="-122"/>
                <a:cs typeface="DM Sans" pitchFamily="34" charset="-120"/>
              </a:rPr>
              <a:t>Cited, safety-checked draft</a:t>
            </a:r>
            <a:endParaRPr lang="en-US" sz="1800" dirty="0"/>
          </a:p>
        </p:txBody>
      </p:sp>
      <p:sp>
        <p:nvSpPr>
          <p:cNvPr id="8" name="Text 5"/>
          <p:cNvSpPr/>
          <p:nvPr/>
        </p:nvSpPr>
        <p:spPr>
          <a:xfrm>
            <a:off x="1022350" y="3267711"/>
            <a:ext cx="2171446"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18A"/>
                </a:solidFill>
                <a:latin typeface="DM Sans" pitchFamily="34" charset="0"/>
                <a:ea typeface="DM Sans" pitchFamily="34" charset="-122"/>
                <a:cs typeface="DM Sans" pitchFamily="34" charset="-120"/>
              </a:rPr>
              <a:t>Every clinical claim carries a source from the reference PDFs, openFDA or PubMed.</a:t>
            </a:r>
            <a:endParaRPr lang="en-US" sz="1400" dirty="0"/>
          </a:p>
        </p:txBody>
      </p:sp>
      <p:sp>
        <p:nvSpPr>
          <p:cNvPr id="9" name="Shape 6"/>
          <p:cNvSpPr/>
          <p:nvPr/>
        </p:nvSpPr>
        <p:spPr>
          <a:xfrm>
            <a:off x="3495675" y="1852295"/>
            <a:ext cx="2520950" cy="2617470"/>
          </a:xfrm>
          <a:prstGeom prst="roundRect">
            <a:avLst>
              <a:gd name="adj" fmla="val 5919"/>
            </a:avLst>
          </a:prstGeom>
          <a:solidFill>
            <a:srgbClr val="FFFFFF"/>
          </a:solidFill>
          <a:ln w="6350">
            <a:solidFill>
              <a:srgbClr val="D9E1F2"/>
            </a:solidFill>
            <a:prstDash val="solid"/>
          </a:ln>
        </p:spPr>
      </p:sp>
      <p:sp>
        <p:nvSpPr>
          <p:cNvPr id="10" name="Shape 7"/>
          <p:cNvSpPr/>
          <p:nvPr/>
        </p:nvSpPr>
        <p:spPr>
          <a:xfrm>
            <a:off x="3702050" y="2058670"/>
            <a:ext cx="457200" cy="457200"/>
          </a:xfrm>
          <a:prstGeom prst="roundRect">
            <a:avLst>
              <a:gd name="adj" fmla="val 25000"/>
            </a:avLst>
          </a:prstGeom>
          <a:solidFill>
            <a:srgbClr val="DDF4FA"/>
          </a:solidFill>
          <a:ln/>
        </p:spPr>
      </p:sp>
      <p:pic>
        <p:nvPicPr>
          <p:cNvPr id="11" name="Image 1" descr="Activity">    </p:cNvPr>
          <p:cNvPicPr>
            <a:picLocks noChangeAspect="1"/>
          </p:cNvPicPr>
          <p:nvPr/>
        </p:nvPicPr>
        <p:blipFill>
          <a:blip r:embed="rId2"/>
          <a:srcRect l="0" r="0" t="0" b="0"/>
          <a:stretch/>
        </p:blipFill>
        <p:spPr>
          <a:xfrm>
            <a:off x="3803650" y="2160270"/>
            <a:ext cx="254000" cy="254000"/>
          </a:xfrm>
          <a:prstGeom prst="rect">
            <a:avLst/>
          </a:prstGeom>
        </p:spPr>
      </p:pic>
      <p:sp>
        <p:nvSpPr>
          <p:cNvPr id="12" name="Text 8"/>
          <p:cNvSpPr/>
          <p:nvPr/>
        </p:nvSpPr>
        <p:spPr>
          <a:xfrm>
            <a:off x="3702050" y="2617470"/>
            <a:ext cx="2171446"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F54"/>
                </a:solidFill>
                <a:latin typeface="DM Sans" pitchFamily="34" charset="0"/>
                <a:ea typeface="DM Sans" pitchFamily="34" charset="-122"/>
                <a:cs typeface="DM Sans" pitchFamily="34" charset="-120"/>
              </a:rPr>
              <a:t>Risk tier on every question</a:t>
            </a:r>
            <a:endParaRPr lang="en-US" sz="1800" dirty="0"/>
          </a:p>
        </p:txBody>
      </p:sp>
      <p:sp>
        <p:nvSpPr>
          <p:cNvPr id="13" name="Text 9"/>
          <p:cNvSpPr/>
          <p:nvPr/>
        </p:nvSpPr>
        <p:spPr>
          <a:xfrm>
            <a:off x="3702050" y="3267711"/>
            <a:ext cx="2171446"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18A"/>
                </a:solidFill>
                <a:latin typeface="DM Sans" pitchFamily="34" charset="0"/>
                <a:ea typeface="DM Sans" pitchFamily="34" charset="-122"/>
                <a:cs typeface="DM Sans" pitchFamily="34" charset="-120"/>
              </a:rPr>
              <a:t>Low, medium, high or critical decides which model answers and who checks it.</a:t>
            </a:r>
            <a:endParaRPr lang="en-US" sz="1400" dirty="0"/>
          </a:p>
        </p:txBody>
      </p:sp>
      <p:sp>
        <p:nvSpPr>
          <p:cNvPr id="14" name="Shape 10"/>
          <p:cNvSpPr/>
          <p:nvPr/>
        </p:nvSpPr>
        <p:spPr>
          <a:xfrm>
            <a:off x="6175375" y="1852295"/>
            <a:ext cx="2520950" cy="2617470"/>
          </a:xfrm>
          <a:prstGeom prst="roundRect">
            <a:avLst>
              <a:gd name="adj" fmla="val 5919"/>
            </a:avLst>
          </a:prstGeom>
          <a:solidFill>
            <a:srgbClr val="FFFFFF"/>
          </a:solidFill>
          <a:ln w="6350">
            <a:solidFill>
              <a:srgbClr val="D9E1F2"/>
            </a:solidFill>
            <a:prstDash val="solid"/>
          </a:ln>
        </p:spPr>
      </p:sp>
      <p:sp>
        <p:nvSpPr>
          <p:cNvPr id="15" name="Shape 11"/>
          <p:cNvSpPr/>
          <p:nvPr/>
        </p:nvSpPr>
        <p:spPr>
          <a:xfrm>
            <a:off x="6381750" y="2058670"/>
            <a:ext cx="457200" cy="457200"/>
          </a:xfrm>
          <a:prstGeom prst="roundRect">
            <a:avLst>
              <a:gd name="adj" fmla="val 25000"/>
            </a:avLst>
          </a:prstGeom>
          <a:solidFill>
            <a:srgbClr val="FDEBD8"/>
          </a:solidFill>
          <a:ln/>
        </p:spPr>
      </p:sp>
      <p:pic>
        <p:nvPicPr>
          <p:cNvPr id="16" name="Image 2" descr="Users">    </p:cNvPr>
          <p:cNvPicPr>
            <a:picLocks noChangeAspect="1"/>
          </p:cNvPicPr>
          <p:nvPr/>
        </p:nvPicPr>
        <p:blipFill>
          <a:blip r:embed="rId3"/>
          <a:srcRect l="0" r="0" t="0" b="0"/>
          <a:stretch/>
        </p:blipFill>
        <p:spPr>
          <a:xfrm>
            <a:off x="6483350" y="2160270"/>
            <a:ext cx="254000" cy="254000"/>
          </a:xfrm>
          <a:prstGeom prst="rect">
            <a:avLst/>
          </a:prstGeom>
        </p:spPr>
      </p:pic>
      <p:sp>
        <p:nvSpPr>
          <p:cNvPr id="17" name="Text 12"/>
          <p:cNvSpPr/>
          <p:nvPr/>
        </p:nvSpPr>
        <p:spPr>
          <a:xfrm>
            <a:off x="6381750" y="2617470"/>
            <a:ext cx="2171446"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F54"/>
                </a:solidFill>
                <a:latin typeface="DM Sans" pitchFamily="34" charset="0"/>
                <a:ea typeface="DM Sans" pitchFamily="34" charset="-122"/>
                <a:cs typeface="DM Sans" pitchFamily="34" charset="-120"/>
              </a:rPr>
              <a:t>Critical → human approval</a:t>
            </a:r>
            <a:endParaRPr lang="en-US" sz="1800" dirty="0"/>
          </a:p>
        </p:txBody>
      </p:sp>
      <p:sp>
        <p:nvSpPr>
          <p:cNvPr id="18" name="Text 13"/>
          <p:cNvSpPr/>
          <p:nvPr/>
        </p:nvSpPr>
        <p:spPr>
          <a:xfrm>
            <a:off x="6381750" y="3267711"/>
            <a:ext cx="217144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18A"/>
                </a:solidFill>
                <a:latin typeface="DM Sans" pitchFamily="34" charset="0"/>
                <a:ea typeface="DM Sans" pitchFamily="34" charset="-122"/>
                <a:cs typeface="DM Sans" pitchFamily="34" charset="-120"/>
              </a:rPr>
              <a:t>A doctor approves by email before a critical answer is released.</a:t>
            </a:r>
            <a:endParaRPr lang="en-US" sz="1400" dirty="0"/>
          </a:p>
        </p:txBody>
      </p:sp>
      <p:sp>
        <p:nvSpPr>
          <p:cNvPr id="19" name="Shape 14"/>
          <p:cNvSpPr/>
          <p:nvPr/>
        </p:nvSpPr>
        <p:spPr>
          <a:xfrm>
            <a:off x="8855075" y="1852295"/>
            <a:ext cx="2520950" cy="2617470"/>
          </a:xfrm>
          <a:prstGeom prst="roundRect">
            <a:avLst>
              <a:gd name="adj" fmla="val 5919"/>
            </a:avLst>
          </a:prstGeom>
          <a:solidFill>
            <a:srgbClr val="FFFFFF"/>
          </a:solidFill>
          <a:ln w="6350">
            <a:solidFill>
              <a:srgbClr val="D9E1F2"/>
            </a:solidFill>
            <a:prstDash val="solid"/>
          </a:ln>
        </p:spPr>
      </p:sp>
      <p:sp>
        <p:nvSpPr>
          <p:cNvPr id="20" name="Shape 15"/>
          <p:cNvSpPr/>
          <p:nvPr/>
        </p:nvSpPr>
        <p:spPr>
          <a:xfrm>
            <a:off x="9061450" y="2058670"/>
            <a:ext cx="457200" cy="457200"/>
          </a:xfrm>
          <a:prstGeom prst="roundRect">
            <a:avLst>
              <a:gd name="adj" fmla="val 25000"/>
            </a:avLst>
          </a:prstGeom>
          <a:solidFill>
            <a:srgbClr val="E3EAFB"/>
          </a:solidFill>
          <a:ln/>
        </p:spPr>
      </p:sp>
      <p:pic>
        <p:nvPicPr>
          <p:cNvPr id="21" name="Image 3" descr="Lock">    </p:cNvPr>
          <p:cNvPicPr>
            <a:picLocks noChangeAspect="1"/>
          </p:cNvPicPr>
          <p:nvPr/>
        </p:nvPicPr>
        <p:blipFill>
          <a:blip r:embed="rId4"/>
          <a:srcRect l="0" r="0" t="0" b="0"/>
          <a:stretch/>
        </p:blipFill>
        <p:spPr>
          <a:xfrm>
            <a:off x="9163050" y="2160270"/>
            <a:ext cx="254000" cy="254000"/>
          </a:xfrm>
          <a:prstGeom prst="rect">
            <a:avLst/>
          </a:prstGeom>
        </p:spPr>
      </p:pic>
      <p:sp>
        <p:nvSpPr>
          <p:cNvPr id="22" name="Text 16"/>
          <p:cNvSpPr/>
          <p:nvPr/>
        </p:nvSpPr>
        <p:spPr>
          <a:xfrm>
            <a:off x="9061450" y="2617470"/>
            <a:ext cx="2171446" cy="57404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21F54"/>
                </a:solidFill>
                <a:latin typeface="DM Sans" pitchFamily="34" charset="0"/>
                <a:ea typeface="DM Sans" pitchFamily="34" charset="-122"/>
                <a:cs typeface="DM Sans" pitchFamily="34" charset="-120"/>
              </a:rPr>
              <a:t>Identifiers masked first</a:t>
            </a:r>
            <a:endParaRPr lang="en-US" sz="1800" dirty="0"/>
          </a:p>
        </p:txBody>
      </p:sp>
      <p:sp>
        <p:nvSpPr>
          <p:cNvPr id="23" name="Text 17"/>
          <p:cNvSpPr/>
          <p:nvPr/>
        </p:nvSpPr>
        <p:spPr>
          <a:xfrm>
            <a:off x="9061450" y="3267711"/>
            <a:ext cx="217144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5618A"/>
                </a:solidFill>
                <a:latin typeface="DM Sans" pitchFamily="34" charset="0"/>
                <a:ea typeface="DM Sans" pitchFamily="34" charset="-122"/>
                <a:cs typeface="DM Sans" pitchFamily="34" charset="-120"/>
              </a:rPr>
              <a:t>Names, IDs and phones become tokens before any AI sees the text.</a:t>
            </a:r>
            <a:endParaRPr lang="en-US" sz="1400" dirty="0"/>
          </a:p>
        </p:txBody>
      </p:sp>
      <p:sp>
        <p:nvSpPr>
          <p:cNvPr id="24" name="Text 18"/>
          <p:cNvSpPr/>
          <p:nvPr/>
        </p:nvSpPr>
        <p:spPr>
          <a:xfrm>
            <a:off x="812800" y="4726939"/>
            <a:ext cx="10566400" cy="848360"/>
          </a:xfrm>
          <a:prstGeom prst="roundRect">
            <a:avLst>
              <a:gd name="adj" fmla="val 17964"/>
            </a:avLst>
          </a:prstGeom>
          <a:solidFill>
            <a:srgbClr val="121F54"/>
          </a:solidFill>
          <a:ln/>
        </p:spPr>
        <p:txBody>
          <a:bodyPr wrap="square" lIns="260164" tIns="171264" rIns="260164" bIns="171264" rtlCol="0" anchor="ctr">
            <a:normAutofit/>
          </a:bodyPr>
          <a:lstStyle/>
          <a:p>
            <a:pPr algn="ctr" indent="0" marL="0">
              <a:lnSpc>
                <a:spcPts val="3080"/>
              </a:lnSpc>
              <a:buNone/>
            </a:pPr>
            <a:r>
              <a:rPr lang="en-US" sz="2200" b="1" dirty="0">
                <a:solidFill>
                  <a:srgbClr val="FFFFFF"/>
                </a:solidFill>
                <a:latin typeface="DM Sans" pitchFamily="34" charset="0"/>
                <a:ea typeface="DM Sans" pitchFamily="34" charset="-122"/>
                <a:cs typeface="DM Sans" pitchFamily="34" charset="-120"/>
              </a:rPr>
              <a:t>AI drafts · </a:t>
            </a:r>
            <a:r>
              <a:rPr lang="en-US" sz="2200" b="1" dirty="0">
                <a:solidFill>
                  <a:srgbClr val="F6A54F"/>
                </a:solidFill>
                <a:latin typeface="DM Sans" pitchFamily="34" charset="0"/>
                <a:ea typeface="DM Sans" pitchFamily="34" charset="-122"/>
                <a:cs typeface="DM Sans" pitchFamily="34" charset="-120"/>
              </a:rPr>
              <a:t>a clinician decides</a:t>
            </a:r>
            <a:endParaRPr lang="en-US" sz="2200" dirty="0"/>
          </a:p>
        </p:txBody>
      </p:sp>
      <p:sp>
        <p:nvSpPr>
          <p:cNvPr id="25" name="Text 19"/>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8A"/>
                </a:solidFill>
                <a:latin typeface="DM Sans" pitchFamily="34" charset="0"/>
                <a:ea typeface="DM Sans" pitchFamily="34" charset="-122"/>
                <a:cs typeface="DM Sans" pitchFamily="34" charset="-120"/>
              </a:rPr>
              <a:t>ToxWatch · DEPI Track IND3-G2 · synthetic data only</a:t>
            </a:r>
            <a:endParaRPr lang="en-US" sz="1200" dirty="0"/>
          </a:p>
        </p:txBody>
      </p:sp>
      <p:sp>
        <p:nvSpPr>
          <p:cNvPr id="26" name="Text 20"/>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18A"/>
                </a:solidFill>
                <a:latin typeface="DM Sans" pitchFamily="34" charset="0"/>
                <a:ea typeface="DM Sans" pitchFamily="34" charset="-122"/>
                <a:cs typeface="DM Sans" pitchFamily="34" charset="-120"/>
              </a:rPr>
              <a:t>3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3560A"/>
                </a:solidFill>
                <a:latin typeface="DM Sans" pitchFamily="34" charset="0"/>
                <a:ea typeface="DM Sans" pitchFamily="34" charset="-122"/>
                <a:cs typeface="DM Sans" pitchFamily="34" charset="-120"/>
              </a:rPr>
              <a:t>BUSINESS</a:t>
            </a:r>
            <a:endParaRPr lang="en-US" sz="1300" dirty="0"/>
          </a:p>
        </p:txBody>
      </p:sp>
      <p:sp>
        <p:nvSpPr>
          <p:cNvPr id="3" name="Text 1"/>
          <p:cNvSpPr/>
          <p:nvPr>
            <p:ph type="title"/>
          </p:nvPr>
        </p:nvSpPr>
        <p:spPr>
          <a:xfrm>
            <a:off x="812800" y="1120139"/>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F54"/>
                </a:solidFill>
                <a:latin typeface="DM Sans" pitchFamily="34" charset="0"/>
                <a:ea typeface="DM Sans" pitchFamily="34" charset="-122"/>
                <a:cs typeface="DM Sans" pitchFamily="34" charset="-120"/>
              </a:rPr>
              <a:t>Who pays, and what it is worth</a:t>
            </a:r>
            <a:endParaRPr lang="en-US" sz="3200" dirty="0"/>
          </a:p>
        </p:txBody>
      </p:sp>
      <p:sp>
        <p:nvSpPr>
          <p:cNvPr id="4" name="Shape 2"/>
          <p:cNvSpPr/>
          <p:nvPr/>
        </p:nvSpPr>
        <p:spPr>
          <a:xfrm>
            <a:off x="812800" y="1744980"/>
            <a:ext cx="3420533" cy="1526540"/>
          </a:xfrm>
          <a:prstGeom prst="roundRect">
            <a:avLst>
              <a:gd name="adj" fmla="val 9983"/>
            </a:avLst>
          </a:prstGeom>
          <a:solidFill>
            <a:srgbClr val="121F54"/>
          </a:solidFill>
          <a:ln/>
        </p:spPr>
      </p:sp>
      <p:sp>
        <p:nvSpPr>
          <p:cNvPr id="5" name="Text 3"/>
          <p:cNvSpPr/>
          <p:nvPr/>
        </p:nvSpPr>
        <p:spPr>
          <a:xfrm>
            <a:off x="1016000" y="1922780"/>
            <a:ext cx="310455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FDCF0"/>
                </a:solidFill>
                <a:latin typeface="DM Sans" pitchFamily="34" charset="0"/>
                <a:ea typeface="DM Sans" pitchFamily="34" charset="-122"/>
                <a:cs typeface="DM Sans" pitchFamily="34" charset="-120"/>
              </a:rPr>
              <a:t>TAM · EGYPT</a:t>
            </a:r>
            <a:endParaRPr lang="en-US" sz="1200" dirty="0"/>
          </a:p>
        </p:txBody>
      </p:sp>
      <p:sp>
        <p:nvSpPr>
          <p:cNvPr id="6" name="Text 4"/>
          <p:cNvSpPr/>
          <p:nvPr/>
        </p:nvSpPr>
        <p:spPr>
          <a:xfrm>
            <a:off x="1016000" y="2186939"/>
            <a:ext cx="3104557" cy="45212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FFFFFF"/>
                </a:solidFill>
                <a:latin typeface="DM Sans" pitchFamily="34" charset="0"/>
                <a:ea typeface="DM Sans" pitchFamily="34" charset="-122"/>
                <a:cs typeface="DM Sans" pitchFamily="34" charset="-120"/>
              </a:rPr>
              <a:t>EGP 345 m</a:t>
            </a:r>
            <a:endParaRPr lang="en-US" sz="3200" dirty="0"/>
          </a:p>
        </p:txBody>
      </p:sp>
      <p:sp>
        <p:nvSpPr>
          <p:cNvPr id="7" name="Text 5"/>
          <p:cNvSpPr/>
          <p:nvPr/>
        </p:nvSpPr>
        <p:spPr>
          <a:xfrm>
            <a:off x="1016000" y="2664461"/>
            <a:ext cx="3104557"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DCE6FF"/>
                </a:solidFill>
                <a:latin typeface="DM Sans" pitchFamily="34" charset="0"/>
                <a:ea typeface="DM Sans" pitchFamily="34" charset="-122"/>
                <a:cs typeface="DM Sans" pitchFamily="34" charset="-120"/>
              </a:rPr>
              <a:t>per year: 1,555 private hospitals + 70k pharmacies</a:t>
            </a:r>
            <a:endParaRPr lang="en-US" sz="1300" dirty="0"/>
          </a:p>
        </p:txBody>
      </p:sp>
      <p:sp>
        <p:nvSpPr>
          <p:cNvPr id="8" name="Shape 6"/>
          <p:cNvSpPr/>
          <p:nvPr/>
        </p:nvSpPr>
        <p:spPr>
          <a:xfrm>
            <a:off x="4385733" y="1744980"/>
            <a:ext cx="3420533" cy="1526540"/>
          </a:xfrm>
          <a:prstGeom prst="roundRect">
            <a:avLst>
              <a:gd name="adj" fmla="val 9983"/>
            </a:avLst>
          </a:prstGeom>
          <a:solidFill>
            <a:srgbClr val="1F3A8F"/>
          </a:solidFill>
          <a:ln/>
        </p:spPr>
      </p:sp>
      <p:sp>
        <p:nvSpPr>
          <p:cNvPr id="9" name="Text 7"/>
          <p:cNvSpPr/>
          <p:nvPr/>
        </p:nvSpPr>
        <p:spPr>
          <a:xfrm>
            <a:off x="4588933" y="1922780"/>
            <a:ext cx="310455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FD0FF"/>
                </a:solidFill>
                <a:latin typeface="DM Sans" pitchFamily="34" charset="0"/>
                <a:ea typeface="DM Sans" pitchFamily="34" charset="-122"/>
                <a:cs typeface="DM Sans" pitchFamily="34" charset="-120"/>
              </a:rPr>
              <a:t>SAM · PRIVATE HOSPITALS</a:t>
            </a:r>
            <a:endParaRPr lang="en-US" sz="1200" dirty="0"/>
          </a:p>
        </p:txBody>
      </p:sp>
      <p:sp>
        <p:nvSpPr>
          <p:cNvPr id="10" name="Text 8"/>
          <p:cNvSpPr/>
          <p:nvPr/>
        </p:nvSpPr>
        <p:spPr>
          <a:xfrm>
            <a:off x="4588933" y="2186939"/>
            <a:ext cx="3104557" cy="45212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FFFFFF"/>
                </a:solidFill>
                <a:latin typeface="DM Sans" pitchFamily="34" charset="0"/>
                <a:ea typeface="DM Sans" pitchFamily="34" charset="-122"/>
                <a:cs typeface="DM Sans" pitchFamily="34" charset="-120"/>
              </a:rPr>
              <a:t>EGP 93 m</a:t>
            </a:r>
            <a:endParaRPr lang="en-US" sz="3200" dirty="0"/>
          </a:p>
        </p:txBody>
      </p:sp>
      <p:sp>
        <p:nvSpPr>
          <p:cNvPr id="11" name="Text 9"/>
          <p:cNvSpPr/>
          <p:nvPr/>
        </p:nvSpPr>
        <p:spPr>
          <a:xfrm>
            <a:off x="4588933" y="2664461"/>
            <a:ext cx="3104557"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DCE6FF"/>
                </a:solidFill>
                <a:latin typeface="DM Sans" pitchFamily="34" charset="0"/>
                <a:ea typeface="DM Sans" pitchFamily="34" charset="-122"/>
                <a:cs typeface="DM Sans" pitchFamily="34" charset="-120"/>
              </a:rPr>
              <a:t>per year, at EGP 60,000 per hospital</a:t>
            </a:r>
            <a:endParaRPr lang="en-US" sz="1300" dirty="0"/>
          </a:p>
        </p:txBody>
      </p:sp>
      <p:sp>
        <p:nvSpPr>
          <p:cNvPr id="12" name="Shape 10"/>
          <p:cNvSpPr/>
          <p:nvPr/>
        </p:nvSpPr>
        <p:spPr>
          <a:xfrm>
            <a:off x="7958667" y="1744980"/>
            <a:ext cx="3420533" cy="1526540"/>
          </a:xfrm>
          <a:prstGeom prst="roundRect">
            <a:avLst>
              <a:gd name="adj" fmla="val 9983"/>
            </a:avLst>
          </a:prstGeom>
          <a:solidFill>
            <a:srgbClr val="6A3FC8"/>
          </a:solidFill>
          <a:ln/>
        </p:spPr>
      </p:sp>
      <p:sp>
        <p:nvSpPr>
          <p:cNvPr id="13" name="Text 11"/>
          <p:cNvSpPr/>
          <p:nvPr/>
        </p:nvSpPr>
        <p:spPr>
          <a:xfrm>
            <a:off x="8161867" y="1922780"/>
            <a:ext cx="310455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4D9FF"/>
                </a:solidFill>
                <a:latin typeface="DM Sans" pitchFamily="34" charset="0"/>
                <a:ea typeface="DM Sans" pitchFamily="34" charset="-122"/>
                <a:cs typeface="DM Sans" pitchFamily="34" charset="-120"/>
              </a:rPr>
              <a:t>SOM · YEAR 3</a:t>
            </a:r>
            <a:endParaRPr lang="en-US" sz="1200" dirty="0"/>
          </a:p>
        </p:txBody>
      </p:sp>
      <p:sp>
        <p:nvSpPr>
          <p:cNvPr id="14" name="Text 12"/>
          <p:cNvSpPr/>
          <p:nvPr/>
        </p:nvSpPr>
        <p:spPr>
          <a:xfrm>
            <a:off x="8161867" y="2186939"/>
            <a:ext cx="3104557" cy="452120"/>
          </a:xfrm>
          <a:prstGeom prst="rect">
            <a:avLst/>
          </a:prstGeom>
          <a:noFill/>
          <a:ln/>
        </p:spPr>
        <p:txBody>
          <a:bodyPr wrap="square" lIns="0" tIns="0" rIns="0" bIns="0" rtlCol="0" anchor="t">
            <a:normAutofit/>
          </a:bodyPr>
          <a:lstStyle/>
          <a:p>
            <a:pPr algn="l" indent="0" marL="0">
              <a:lnSpc>
                <a:spcPts val="3360"/>
              </a:lnSpc>
              <a:buNone/>
            </a:pPr>
            <a:r>
              <a:rPr lang="en-US" sz="3200" b="1" dirty="0">
                <a:solidFill>
                  <a:srgbClr val="FFFFFF"/>
                </a:solidFill>
                <a:latin typeface="DM Sans" pitchFamily="34" charset="0"/>
                <a:ea typeface="DM Sans" pitchFamily="34" charset="-122"/>
                <a:cs typeface="DM Sans" pitchFamily="34" charset="-120"/>
              </a:rPr>
              <a:t>70 hospitals</a:t>
            </a:r>
            <a:endParaRPr lang="en-US" sz="3200" dirty="0"/>
          </a:p>
        </p:txBody>
      </p:sp>
      <p:sp>
        <p:nvSpPr>
          <p:cNvPr id="15" name="Text 13"/>
          <p:cNvSpPr/>
          <p:nvPr/>
        </p:nvSpPr>
        <p:spPr>
          <a:xfrm>
            <a:off x="8161867" y="2664461"/>
            <a:ext cx="3104557"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0EAFF"/>
                </a:solidFill>
                <a:latin typeface="DM Sans" pitchFamily="34" charset="0"/>
                <a:ea typeface="DM Sans" pitchFamily="34" charset="-122"/>
                <a:cs typeface="DM Sans" pitchFamily="34" charset="-120"/>
              </a:rPr>
              <a:t>≈ 4.5% of private hospitals, EGP 4.2 m subscriptions</a:t>
            </a:r>
            <a:endParaRPr lang="en-US" sz="1300" dirty="0"/>
          </a:p>
        </p:txBody>
      </p:sp>
      <p:sp>
        <p:nvSpPr>
          <p:cNvPr id="16" name="Shape 14"/>
          <p:cNvSpPr/>
          <p:nvPr/>
        </p:nvSpPr>
        <p:spPr>
          <a:xfrm>
            <a:off x="815975" y="3452495"/>
            <a:ext cx="5200650" cy="1931670"/>
          </a:xfrm>
          <a:prstGeom prst="roundRect">
            <a:avLst>
              <a:gd name="adj" fmla="val 7725"/>
            </a:avLst>
          </a:prstGeom>
          <a:solidFill>
            <a:srgbClr val="FFFFFF"/>
          </a:solidFill>
          <a:ln w="6350">
            <a:solidFill>
              <a:srgbClr val="D9E1F2"/>
            </a:solidFill>
            <a:prstDash val="solid"/>
          </a:ln>
        </p:spPr>
      </p:sp>
      <p:sp>
        <p:nvSpPr>
          <p:cNvPr id="17" name="Text 15"/>
          <p:cNvSpPr/>
          <p:nvPr/>
        </p:nvSpPr>
        <p:spPr>
          <a:xfrm>
            <a:off x="1022350" y="3633470"/>
            <a:ext cx="493153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3560A"/>
                </a:solidFill>
                <a:latin typeface="DM Sans" pitchFamily="34" charset="0"/>
                <a:ea typeface="DM Sans" pitchFamily="34" charset="-122"/>
                <a:cs typeface="DM Sans" pitchFamily="34" charset="-120"/>
              </a:rPr>
              <a:t>PRICE PER HOSPITAL · ASSUMPTION</a:t>
            </a:r>
            <a:endParaRPr lang="en-US" sz="1200" dirty="0"/>
          </a:p>
        </p:txBody>
      </p:sp>
      <p:sp>
        <p:nvSpPr>
          <p:cNvPr id="18" name="Text 16"/>
          <p:cNvSpPr/>
          <p:nvPr/>
        </p:nvSpPr>
        <p:spPr>
          <a:xfrm>
            <a:off x="1022350" y="3923030"/>
            <a:ext cx="4787900" cy="375920"/>
          </a:xfrm>
          <a:prstGeom prst="roundRect">
            <a:avLst>
              <a:gd name="adj" fmla="val 23649"/>
            </a:avLst>
          </a:prstGeom>
          <a:solidFill>
            <a:srgbClr val="ECE6FA"/>
          </a:solidFill>
          <a:ln/>
        </p:spPr>
        <p:txBody>
          <a:bodyPr wrap="square" lIns="113662" tIns="37462" rIns="0" bIns="12062" rtlCol="0" anchor="t">
            <a:normAutofit/>
          </a:bodyPr>
          <a:lstStyle/>
          <a:p>
            <a:pPr algn="l" indent="0" marL="0">
              <a:lnSpc>
                <a:spcPts val="1960"/>
              </a:lnSpc>
              <a:buNone/>
            </a:pPr>
            <a:r>
              <a:rPr lang="en-US" sz="1400" b="1" dirty="0">
                <a:solidFill>
                  <a:srgbClr val="4B2A9A"/>
                </a:solidFill>
                <a:latin typeface="DM Sans" pitchFamily="34" charset="0"/>
                <a:ea typeface="DM Sans" pitchFamily="34" charset="-122"/>
                <a:cs typeface="DM Sans" pitchFamily="34" charset="-120"/>
              </a:rPr>
              <a:t>Starter · EGP 3,000 / month</a:t>
            </a:r>
            <a:endParaRPr lang="en-US" sz="1400" dirty="0"/>
          </a:p>
        </p:txBody>
      </p:sp>
      <p:sp>
        <p:nvSpPr>
          <p:cNvPr id="19" name="Text 17"/>
          <p:cNvSpPr/>
          <p:nvPr/>
        </p:nvSpPr>
        <p:spPr>
          <a:xfrm>
            <a:off x="1022350" y="4375150"/>
            <a:ext cx="4787900" cy="375920"/>
          </a:xfrm>
          <a:prstGeom prst="roundRect">
            <a:avLst>
              <a:gd name="adj" fmla="val 23649"/>
            </a:avLst>
          </a:prstGeom>
          <a:solidFill>
            <a:srgbClr val="ECE6FA"/>
          </a:solidFill>
          <a:ln/>
        </p:spPr>
        <p:txBody>
          <a:bodyPr wrap="square" lIns="113662" tIns="37462" rIns="0" bIns="12062" rtlCol="0" anchor="t">
            <a:normAutofit/>
          </a:bodyPr>
          <a:lstStyle/>
          <a:p>
            <a:pPr algn="l" indent="0" marL="0">
              <a:lnSpc>
                <a:spcPts val="1960"/>
              </a:lnSpc>
              <a:buNone/>
            </a:pPr>
            <a:r>
              <a:rPr lang="en-US" sz="1400" b="1" dirty="0">
                <a:solidFill>
                  <a:srgbClr val="4B2A9A"/>
                </a:solidFill>
                <a:latin typeface="DM Sans" pitchFamily="34" charset="0"/>
                <a:ea typeface="DM Sans" pitchFamily="34" charset="-122"/>
                <a:cs typeface="DM Sans" pitchFamily="34" charset="-120"/>
              </a:rPr>
              <a:t>Standard · EGP 5,000 / month</a:t>
            </a:r>
            <a:endParaRPr lang="en-US" sz="1400" dirty="0"/>
          </a:p>
        </p:txBody>
      </p:sp>
      <p:sp>
        <p:nvSpPr>
          <p:cNvPr id="20" name="Text 18"/>
          <p:cNvSpPr/>
          <p:nvPr/>
        </p:nvSpPr>
        <p:spPr>
          <a:xfrm>
            <a:off x="1022350" y="4827270"/>
            <a:ext cx="4787900" cy="375920"/>
          </a:xfrm>
          <a:prstGeom prst="roundRect">
            <a:avLst>
              <a:gd name="adj" fmla="val 23649"/>
            </a:avLst>
          </a:prstGeom>
          <a:solidFill>
            <a:srgbClr val="ECE6FA"/>
          </a:solidFill>
          <a:ln/>
        </p:spPr>
        <p:txBody>
          <a:bodyPr wrap="square" lIns="113662" tIns="37462" rIns="0" bIns="12062" rtlCol="0" anchor="t">
            <a:normAutofit/>
          </a:bodyPr>
          <a:lstStyle/>
          <a:p>
            <a:pPr algn="l" indent="0" marL="0">
              <a:lnSpc>
                <a:spcPts val="1960"/>
              </a:lnSpc>
              <a:buNone/>
            </a:pPr>
            <a:r>
              <a:rPr lang="en-US" sz="1400" b="1" dirty="0">
                <a:solidFill>
                  <a:srgbClr val="4B2A9A"/>
                </a:solidFill>
                <a:latin typeface="DM Sans" pitchFamily="34" charset="0"/>
                <a:ea typeface="DM Sans" pitchFamily="34" charset="-122"/>
                <a:cs typeface="DM Sans" pitchFamily="34" charset="-120"/>
              </a:rPr>
              <a:t>Group · EGP 8,000 / month</a:t>
            </a:r>
            <a:endParaRPr lang="en-US" sz="1400" dirty="0"/>
          </a:p>
        </p:txBody>
      </p:sp>
      <p:sp>
        <p:nvSpPr>
          <p:cNvPr id="21" name="Shape 19"/>
          <p:cNvSpPr/>
          <p:nvPr/>
        </p:nvSpPr>
        <p:spPr>
          <a:xfrm>
            <a:off x="6175375" y="3452495"/>
            <a:ext cx="5200650" cy="1931670"/>
          </a:xfrm>
          <a:prstGeom prst="roundRect">
            <a:avLst>
              <a:gd name="adj" fmla="val 7725"/>
            </a:avLst>
          </a:prstGeom>
          <a:solidFill>
            <a:srgbClr val="FFFFFF"/>
          </a:solidFill>
          <a:ln w="6350">
            <a:solidFill>
              <a:srgbClr val="D9E1F2"/>
            </a:solidFill>
            <a:prstDash val="solid"/>
          </a:ln>
        </p:spPr>
      </p:sp>
      <p:sp>
        <p:nvSpPr>
          <p:cNvPr id="22" name="Text 20"/>
          <p:cNvSpPr/>
          <p:nvPr/>
        </p:nvSpPr>
        <p:spPr>
          <a:xfrm>
            <a:off x="6381750" y="3633470"/>
            <a:ext cx="493153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3560A"/>
                </a:solidFill>
                <a:latin typeface="DM Sans" pitchFamily="34" charset="0"/>
                <a:ea typeface="DM Sans" pitchFamily="34" charset="-122"/>
                <a:cs typeface="DM Sans" pitchFamily="34" charset="-120"/>
              </a:rPr>
              <a:t>ECONOMICS AND THE ASK</a:t>
            </a:r>
            <a:endParaRPr lang="en-US" sz="1200" dirty="0"/>
          </a:p>
        </p:txBody>
      </p:sp>
      <p:sp>
        <p:nvSpPr>
          <p:cNvPr id="23" name="Text 21"/>
          <p:cNvSpPr/>
          <p:nvPr/>
        </p:nvSpPr>
        <p:spPr>
          <a:xfrm>
            <a:off x="6381750" y="3963036"/>
            <a:ext cx="4931537"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21F54"/>
                </a:solidFill>
                <a:latin typeface="DM Sans" pitchFamily="34" charset="0"/>
                <a:ea typeface="DM Sans" pitchFamily="34" charset="-122"/>
                <a:cs typeface="DM Sans" pitchFamily="34" charset="-120"/>
              </a:rPr>
              <a:t>AI cost ≈ </a:t>
            </a:r>
            <a:r>
              <a:rPr lang="en-US" sz="1400" b="1" dirty="0">
                <a:solidFill>
                  <a:srgbClr val="121F54"/>
                </a:solidFill>
                <a:latin typeface="DM Sans" pitchFamily="34" charset="0"/>
                <a:ea typeface="DM Sans" pitchFamily="34" charset="-122"/>
                <a:cs typeface="DM Sans" pitchFamily="34" charset="-120"/>
              </a:rPr>
              <a:t>EGP 0.49</a:t>
            </a:r>
            <a:r>
              <a:rPr lang="en-US" sz="1400" dirty="0">
                <a:solidFill>
                  <a:srgbClr val="121F54"/>
                </a:solidFill>
                <a:latin typeface="DM Sans" pitchFamily="34" charset="0"/>
                <a:ea typeface="DM Sans" pitchFamily="34" charset="-122"/>
                <a:cs typeface="DM Sans" pitchFamily="34" charset="-120"/>
              </a:rPr>
              <a:t> per answer</a:t>
            </a:r>
            <a:endParaRPr lang="en-US" sz="1400" dirty="0"/>
          </a:p>
        </p:txBody>
      </p:sp>
      <p:sp>
        <p:nvSpPr>
          <p:cNvPr id="24" name="Text 22"/>
          <p:cNvSpPr/>
          <p:nvPr/>
        </p:nvSpPr>
        <p:spPr>
          <a:xfrm>
            <a:off x="6381750" y="4310380"/>
            <a:ext cx="4931537"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21F54"/>
                </a:solidFill>
                <a:latin typeface="DM Sans" pitchFamily="34" charset="0"/>
                <a:ea typeface="DM Sans" pitchFamily="34" charset="-122"/>
                <a:cs typeface="DM Sans" pitchFamily="34" charset="-120"/>
              </a:rPr>
              <a:t>Year 3: revenue </a:t>
            </a:r>
            <a:r>
              <a:rPr lang="en-US" sz="1400" b="1" dirty="0">
                <a:solidFill>
                  <a:srgbClr val="121F54"/>
                </a:solidFill>
                <a:latin typeface="DM Sans" pitchFamily="34" charset="0"/>
                <a:ea typeface="DM Sans" pitchFamily="34" charset="-122"/>
                <a:cs typeface="DM Sans" pitchFamily="34" charset="-120"/>
              </a:rPr>
              <a:t>EGP 4.9 m</a:t>
            </a:r>
            <a:r>
              <a:rPr lang="en-US" sz="1400" dirty="0">
                <a:solidFill>
                  <a:srgbClr val="121F54"/>
                </a:solidFill>
                <a:latin typeface="DM Sans" pitchFamily="34" charset="0"/>
                <a:ea typeface="DM Sans" pitchFamily="34" charset="-122"/>
                <a:cs typeface="DM Sans" pitchFamily="34" charset="-120"/>
              </a:rPr>
              <a:t>, net +0.28 m</a:t>
            </a:r>
            <a:endParaRPr lang="en-US" sz="1400" dirty="0"/>
          </a:p>
        </p:txBody>
      </p:sp>
      <p:sp>
        <p:nvSpPr>
          <p:cNvPr id="25" name="Text 23"/>
          <p:cNvSpPr/>
          <p:nvPr/>
        </p:nvSpPr>
        <p:spPr>
          <a:xfrm>
            <a:off x="6381750" y="4657725"/>
            <a:ext cx="4931537"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121F54"/>
                </a:solidFill>
                <a:latin typeface="DM Sans" pitchFamily="34" charset="0"/>
                <a:ea typeface="DM Sans" pitchFamily="34" charset="-122"/>
                <a:cs typeface="DM Sans" pitchFamily="34" charset="-120"/>
              </a:rPr>
              <a:t>Ask: </a:t>
            </a:r>
            <a:r>
              <a:rPr lang="en-US" sz="1400" b="1" dirty="0">
                <a:solidFill>
                  <a:srgbClr val="121F54"/>
                </a:solidFill>
                <a:latin typeface="DM Sans" pitchFamily="34" charset="0"/>
                <a:ea typeface="DM Sans" pitchFamily="34" charset="-122"/>
                <a:cs typeface="DM Sans" pitchFamily="34" charset="-120"/>
              </a:rPr>
              <a:t>EGP 3.5 m</a:t>
            </a:r>
            <a:r>
              <a:rPr lang="en-US" sz="1400" dirty="0">
                <a:solidFill>
                  <a:srgbClr val="121F54"/>
                </a:solidFill>
                <a:latin typeface="DM Sans" pitchFamily="34" charset="0"/>
                <a:ea typeface="DM Sans" pitchFamily="34" charset="-122"/>
                <a:cs typeface="DM Sans" pitchFamily="34" charset="-120"/>
              </a:rPr>
              <a:t> pre-seed for 8–10% equity</a:t>
            </a:r>
            <a:endParaRPr lang="en-US" sz="1400" dirty="0"/>
          </a:p>
        </p:txBody>
      </p:sp>
      <p:sp>
        <p:nvSpPr>
          <p:cNvPr id="26" name="Text 24"/>
          <p:cNvSpPr/>
          <p:nvPr/>
        </p:nvSpPr>
        <p:spPr>
          <a:xfrm>
            <a:off x="6381750" y="5005070"/>
            <a:ext cx="4931537"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Forecasts and assumptions, not results</a:t>
            </a:r>
            <a:endParaRPr lang="en-US" sz="1200" dirty="0"/>
          </a:p>
        </p:txBody>
      </p:sp>
      <p:sp>
        <p:nvSpPr>
          <p:cNvPr id="27" name="Text 25"/>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8A"/>
                </a:solidFill>
                <a:latin typeface="DM Sans" pitchFamily="34" charset="0"/>
                <a:ea typeface="DM Sans" pitchFamily="34" charset="-122"/>
                <a:cs typeface="DM Sans" pitchFamily="34" charset="-120"/>
              </a:rPr>
              <a:t>ToxWatch · DEPI Track IND3-G2 · synthetic data only</a:t>
            </a:r>
            <a:endParaRPr lang="en-US" sz="1200" dirty="0"/>
          </a:p>
        </p:txBody>
      </p:sp>
      <p:sp>
        <p:nvSpPr>
          <p:cNvPr id="28" name="Text 26"/>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18A"/>
                </a:solidFill>
                <a:latin typeface="DM Sans" pitchFamily="34" charset="0"/>
                <a:ea typeface="DM Sans" pitchFamily="34" charset="-122"/>
                <a:cs typeface="DM Sans" pitchFamily="34" charset="-120"/>
              </a:rPr>
              <a:t>4 /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B47A8"/>
                </a:solidFill>
                <a:latin typeface="DM Sans" pitchFamily="34" charset="0"/>
                <a:ea typeface="DM Sans" pitchFamily="34" charset="-122"/>
                <a:cs typeface="DM Sans" pitchFamily="34" charset="-120"/>
              </a:rPr>
              <a:t>ARCHITECTURE</a:t>
            </a:r>
            <a:endParaRPr lang="en-US" sz="1300" dirty="0"/>
          </a:p>
        </p:txBody>
      </p:sp>
      <p:sp>
        <p:nvSpPr>
          <p:cNvPr id="3" name="Text 1"/>
          <p:cNvSpPr/>
          <p:nvPr>
            <p:ph type="title"/>
          </p:nvPr>
        </p:nvSpPr>
        <p:spPr>
          <a:xfrm>
            <a:off x="812800" y="1120139"/>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21F54"/>
                </a:solidFill>
                <a:latin typeface="DM Sans" pitchFamily="34" charset="0"/>
                <a:ea typeface="DM Sans" pitchFamily="34" charset="-122"/>
                <a:cs typeface="DM Sans" pitchFamily="34" charset="-120"/>
              </a:rPr>
              <a:t>Six connected n8n workflows</a:t>
            </a:r>
            <a:endParaRPr lang="en-US" sz="3200" dirty="0"/>
          </a:p>
        </p:txBody>
      </p:sp>
      <p:sp>
        <p:nvSpPr>
          <p:cNvPr id="4" name="Text 2"/>
          <p:cNvSpPr/>
          <p:nvPr/>
        </p:nvSpPr>
        <p:spPr>
          <a:xfrm>
            <a:off x="812800" y="177037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5618A"/>
                </a:solidFill>
                <a:latin typeface="DM Sans" pitchFamily="34" charset="0"/>
                <a:ea typeface="DM Sans" pitchFamily="34" charset="-122"/>
                <a:cs typeface="DM Sans" pitchFamily="34" charset="-120"/>
              </a:rPr>
              <a:t>Answer path</a:t>
            </a:r>
            <a:endParaRPr lang="en-US" sz="1200" dirty="0"/>
          </a:p>
        </p:txBody>
      </p:sp>
      <p:sp>
        <p:nvSpPr>
          <p:cNvPr id="5" name="Shape 3"/>
          <p:cNvSpPr/>
          <p:nvPr/>
        </p:nvSpPr>
        <p:spPr>
          <a:xfrm>
            <a:off x="812800" y="2047239"/>
            <a:ext cx="1380067" cy="1094740"/>
          </a:xfrm>
          <a:prstGeom prst="roundRect">
            <a:avLst>
              <a:gd name="adj" fmla="val 11601"/>
            </a:avLst>
          </a:prstGeom>
          <a:solidFill>
            <a:srgbClr val="4A5578"/>
          </a:solidFill>
          <a:ln/>
        </p:spPr>
      </p:sp>
      <p:sp>
        <p:nvSpPr>
          <p:cNvPr id="6" name="Text 4"/>
          <p:cNvSpPr/>
          <p:nvPr/>
        </p:nvSpPr>
        <p:spPr>
          <a:xfrm>
            <a:off x="914400" y="2148839"/>
            <a:ext cx="122766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FFFF"/>
                </a:solidFill>
                <a:latin typeface="DM Sans" pitchFamily="34" charset="0"/>
                <a:ea typeface="DM Sans" pitchFamily="34" charset="-122"/>
                <a:cs typeface="DM Sans" pitchFamily="34" charset="-120"/>
              </a:rPr>
              <a:t>Clinician</a:t>
            </a:r>
            <a:endParaRPr lang="en-US" sz="1400" dirty="0"/>
          </a:p>
        </p:txBody>
      </p:sp>
      <p:sp>
        <p:nvSpPr>
          <p:cNvPr id="7" name="Text 5"/>
          <p:cNvSpPr/>
          <p:nvPr/>
        </p:nvSpPr>
        <p:spPr>
          <a:xfrm>
            <a:off x="914400" y="2400300"/>
            <a:ext cx="122766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7"/>
                </a:solidFill>
                <a:latin typeface="DM Sans" pitchFamily="34" charset="0"/>
                <a:ea typeface="DM Sans" pitchFamily="34" charset="-122"/>
                <a:cs typeface="DM Sans" pitchFamily="34" charset="-120"/>
              </a:rPr>
              <a:t>question in chat (AR / EN)</a:t>
            </a:r>
            <a:endParaRPr lang="en-US" sz="1200" dirty="0"/>
          </a:p>
        </p:txBody>
      </p:sp>
      <p:pic>
        <p:nvPicPr>
          <p:cNvPr id="8" name="Image 0" descr="arrow-right">    </p:cNvPr>
          <p:cNvPicPr>
            <a:picLocks noChangeAspect="1"/>
          </p:cNvPicPr>
          <p:nvPr/>
        </p:nvPicPr>
        <p:blipFill>
          <a:blip r:embed="rId1"/>
          <a:srcRect l="0" r="0" t="0" b="0"/>
          <a:stretch/>
        </p:blipFill>
        <p:spPr>
          <a:xfrm>
            <a:off x="2294467" y="2505711"/>
            <a:ext cx="254000" cy="177800"/>
          </a:xfrm>
          <a:prstGeom prst="rect">
            <a:avLst/>
          </a:prstGeom>
        </p:spPr>
      </p:pic>
      <p:sp>
        <p:nvSpPr>
          <p:cNvPr id="9" name="Shape 6"/>
          <p:cNvSpPr/>
          <p:nvPr/>
        </p:nvSpPr>
        <p:spPr>
          <a:xfrm>
            <a:off x="2650067" y="2047239"/>
            <a:ext cx="1380067" cy="1094740"/>
          </a:xfrm>
          <a:prstGeom prst="roundRect">
            <a:avLst>
              <a:gd name="adj" fmla="val 11601"/>
            </a:avLst>
          </a:prstGeom>
          <a:solidFill>
            <a:srgbClr val="1F3A8F"/>
          </a:solidFill>
          <a:ln/>
        </p:spPr>
      </p:sp>
      <p:sp>
        <p:nvSpPr>
          <p:cNvPr id="10" name="Text 7"/>
          <p:cNvSpPr/>
          <p:nvPr/>
        </p:nvSpPr>
        <p:spPr>
          <a:xfrm>
            <a:off x="2751667" y="2148839"/>
            <a:ext cx="1227667"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FFFF"/>
                </a:solidFill>
                <a:latin typeface="DM Sans" pitchFamily="34" charset="0"/>
                <a:ea typeface="DM Sans" pitchFamily="34" charset="-122"/>
                <a:cs typeface="DM Sans" pitchFamily="34" charset="-120"/>
              </a:rPr>
              <a:t>W1 · Advisor</a:t>
            </a:r>
            <a:endParaRPr lang="en-US" sz="1400" dirty="0"/>
          </a:p>
        </p:txBody>
      </p:sp>
      <p:sp>
        <p:nvSpPr>
          <p:cNvPr id="11" name="Text 8"/>
          <p:cNvSpPr/>
          <p:nvPr/>
        </p:nvSpPr>
        <p:spPr>
          <a:xfrm>
            <a:off x="2751667" y="2400300"/>
            <a:ext cx="122766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7"/>
                </a:solidFill>
                <a:latin typeface="DM Sans" pitchFamily="34" charset="0"/>
                <a:ea typeface="DM Sans" pitchFamily="34" charset="-122"/>
                <a:cs typeface="DM Sans" pitchFamily="34" charset="-120"/>
              </a:rPr>
              <a:t>PHI gate · injection guard</a:t>
            </a:r>
            <a:endParaRPr lang="en-US" sz="1200" dirty="0"/>
          </a:p>
        </p:txBody>
      </p:sp>
      <p:pic>
        <p:nvPicPr>
          <p:cNvPr id="12" name="Image 1" descr="arrow-right">    </p:cNvPr>
          <p:cNvPicPr>
            <a:picLocks noChangeAspect="1"/>
          </p:cNvPicPr>
          <p:nvPr/>
        </p:nvPicPr>
        <p:blipFill>
          <a:blip r:embed="rId2"/>
          <a:srcRect l="0" r="0" t="0" b="0"/>
          <a:stretch/>
        </p:blipFill>
        <p:spPr>
          <a:xfrm>
            <a:off x="4131733" y="2505711"/>
            <a:ext cx="254000" cy="177800"/>
          </a:xfrm>
          <a:prstGeom prst="rect">
            <a:avLst/>
          </a:prstGeom>
        </p:spPr>
      </p:pic>
      <p:sp>
        <p:nvSpPr>
          <p:cNvPr id="13" name="Shape 9"/>
          <p:cNvSpPr/>
          <p:nvPr/>
        </p:nvSpPr>
        <p:spPr>
          <a:xfrm>
            <a:off x="4487333" y="2047239"/>
            <a:ext cx="1380067" cy="1094740"/>
          </a:xfrm>
          <a:prstGeom prst="roundRect">
            <a:avLst>
              <a:gd name="adj" fmla="val 11601"/>
            </a:avLst>
          </a:prstGeom>
          <a:solidFill>
            <a:srgbClr val="1F3A8F"/>
          </a:solidFill>
          <a:ln/>
        </p:spPr>
      </p:sp>
      <p:sp>
        <p:nvSpPr>
          <p:cNvPr id="14" name="Text 10"/>
          <p:cNvSpPr/>
          <p:nvPr/>
        </p:nvSpPr>
        <p:spPr>
          <a:xfrm>
            <a:off x="4588933" y="2148839"/>
            <a:ext cx="1227667"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FFFF"/>
                </a:solidFill>
                <a:latin typeface="DM Sans" pitchFamily="34" charset="0"/>
                <a:ea typeface="DM Sans" pitchFamily="34" charset="-122"/>
                <a:cs typeface="DM Sans" pitchFamily="34" charset="-120"/>
              </a:rPr>
              <a:t>W2 · Risk Router</a:t>
            </a:r>
            <a:endParaRPr lang="en-US" sz="1400" dirty="0"/>
          </a:p>
        </p:txBody>
      </p:sp>
      <p:sp>
        <p:nvSpPr>
          <p:cNvPr id="15" name="Text 11"/>
          <p:cNvSpPr/>
          <p:nvPr/>
        </p:nvSpPr>
        <p:spPr>
          <a:xfrm>
            <a:off x="4588933" y="2613661"/>
            <a:ext cx="122766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7"/>
                </a:solidFill>
                <a:latin typeface="DM Sans" pitchFamily="34" charset="0"/>
                <a:ea typeface="DM Sans" pitchFamily="34" charset="-122"/>
                <a:cs typeface="DM Sans" pitchFamily="34" charset="-120"/>
              </a:rPr>
              <a:t>low · medium · high · critical</a:t>
            </a:r>
            <a:endParaRPr lang="en-US" sz="1200" dirty="0"/>
          </a:p>
        </p:txBody>
      </p:sp>
      <p:pic>
        <p:nvPicPr>
          <p:cNvPr id="16" name="Image 2" descr="arrow-right">    </p:cNvPr>
          <p:cNvPicPr>
            <a:picLocks noChangeAspect="1"/>
          </p:cNvPicPr>
          <p:nvPr/>
        </p:nvPicPr>
        <p:blipFill>
          <a:blip r:embed="rId3"/>
          <a:srcRect l="0" r="0" t="0" b="0"/>
          <a:stretch/>
        </p:blipFill>
        <p:spPr>
          <a:xfrm>
            <a:off x="5969000" y="2505711"/>
            <a:ext cx="254000" cy="177800"/>
          </a:xfrm>
          <a:prstGeom prst="rect">
            <a:avLst/>
          </a:prstGeom>
        </p:spPr>
      </p:pic>
      <p:sp>
        <p:nvSpPr>
          <p:cNvPr id="17" name="Shape 12"/>
          <p:cNvSpPr/>
          <p:nvPr/>
        </p:nvSpPr>
        <p:spPr>
          <a:xfrm>
            <a:off x="6324600" y="2047239"/>
            <a:ext cx="1380067" cy="1094740"/>
          </a:xfrm>
          <a:prstGeom prst="roundRect">
            <a:avLst>
              <a:gd name="adj" fmla="val 11601"/>
            </a:avLst>
          </a:prstGeom>
          <a:solidFill>
            <a:srgbClr val="1F3A8F"/>
          </a:solidFill>
          <a:ln/>
        </p:spPr>
      </p:sp>
      <p:sp>
        <p:nvSpPr>
          <p:cNvPr id="18" name="Text 13"/>
          <p:cNvSpPr/>
          <p:nvPr/>
        </p:nvSpPr>
        <p:spPr>
          <a:xfrm>
            <a:off x="6426200" y="2148839"/>
            <a:ext cx="1227667"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FFFF"/>
                </a:solidFill>
                <a:latin typeface="DM Sans" pitchFamily="34" charset="0"/>
                <a:ea typeface="DM Sans" pitchFamily="34" charset="-122"/>
                <a:cs typeface="DM Sans" pitchFamily="34" charset="-120"/>
              </a:rPr>
              <a:t>W3 · Case Analyzer</a:t>
            </a:r>
            <a:endParaRPr lang="en-US" sz="1400" dirty="0"/>
          </a:p>
        </p:txBody>
      </p:sp>
      <p:sp>
        <p:nvSpPr>
          <p:cNvPr id="19" name="Text 14"/>
          <p:cNvSpPr/>
          <p:nvPr/>
        </p:nvSpPr>
        <p:spPr>
          <a:xfrm>
            <a:off x="6426200" y="2613661"/>
            <a:ext cx="122766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7"/>
                </a:solidFill>
                <a:latin typeface="DM Sans" pitchFamily="34" charset="0"/>
                <a:ea typeface="DM Sans" pitchFamily="34" charset="-122"/>
                <a:cs typeface="DM Sans" pitchFamily="34" charset="-120"/>
              </a:rPr>
              <a:t>dose tool · cited RAG</a:t>
            </a:r>
            <a:endParaRPr lang="en-US" sz="1200" dirty="0"/>
          </a:p>
        </p:txBody>
      </p:sp>
      <p:pic>
        <p:nvPicPr>
          <p:cNvPr id="20" name="Image 3" descr="arrow-right">    </p:cNvPr>
          <p:cNvPicPr>
            <a:picLocks noChangeAspect="1"/>
          </p:cNvPicPr>
          <p:nvPr/>
        </p:nvPicPr>
        <p:blipFill>
          <a:blip r:embed="rId4"/>
          <a:srcRect l="0" r="0" t="0" b="0"/>
          <a:stretch/>
        </p:blipFill>
        <p:spPr>
          <a:xfrm>
            <a:off x="7806267" y="2505711"/>
            <a:ext cx="254000" cy="177800"/>
          </a:xfrm>
          <a:prstGeom prst="rect">
            <a:avLst/>
          </a:prstGeom>
        </p:spPr>
      </p:pic>
      <p:sp>
        <p:nvSpPr>
          <p:cNvPr id="21" name="Shape 15"/>
          <p:cNvSpPr/>
          <p:nvPr/>
        </p:nvSpPr>
        <p:spPr>
          <a:xfrm>
            <a:off x="8161867" y="2047239"/>
            <a:ext cx="1380067" cy="1094740"/>
          </a:xfrm>
          <a:prstGeom prst="roundRect">
            <a:avLst>
              <a:gd name="adj" fmla="val 11601"/>
            </a:avLst>
          </a:prstGeom>
          <a:solidFill>
            <a:srgbClr val="1F3A8F"/>
          </a:solidFill>
          <a:ln/>
        </p:spPr>
      </p:sp>
      <p:sp>
        <p:nvSpPr>
          <p:cNvPr id="22" name="Text 16"/>
          <p:cNvSpPr/>
          <p:nvPr/>
        </p:nvSpPr>
        <p:spPr>
          <a:xfrm>
            <a:off x="8263467" y="2148839"/>
            <a:ext cx="1227667"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FFFF"/>
                </a:solidFill>
                <a:latin typeface="DM Sans" pitchFamily="34" charset="0"/>
                <a:ea typeface="DM Sans" pitchFamily="34" charset="-122"/>
                <a:cs typeface="DM Sans" pitchFamily="34" charset="-120"/>
              </a:rPr>
              <a:t>W1 · Draft answer</a:t>
            </a:r>
            <a:endParaRPr lang="en-US" sz="1400" dirty="0"/>
          </a:p>
        </p:txBody>
      </p:sp>
      <p:sp>
        <p:nvSpPr>
          <p:cNvPr id="23" name="Text 17"/>
          <p:cNvSpPr/>
          <p:nvPr/>
        </p:nvSpPr>
        <p:spPr>
          <a:xfrm>
            <a:off x="8263467" y="2613661"/>
            <a:ext cx="122766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7"/>
                </a:solidFill>
                <a:latin typeface="DM Sans" pitchFamily="34" charset="0"/>
                <a:ea typeface="DM Sans" pitchFamily="34" charset="-122"/>
                <a:cs typeface="DM Sans" pitchFamily="34" charset="-120"/>
              </a:rPr>
              <a:t>sources · disclaimer · 123</a:t>
            </a:r>
            <a:endParaRPr lang="en-US" sz="1200" dirty="0"/>
          </a:p>
        </p:txBody>
      </p:sp>
      <p:pic>
        <p:nvPicPr>
          <p:cNvPr id="24" name="Image 4" descr="arrow-right">    </p:cNvPr>
          <p:cNvPicPr>
            <a:picLocks noChangeAspect="1"/>
          </p:cNvPicPr>
          <p:nvPr/>
        </p:nvPicPr>
        <p:blipFill>
          <a:blip r:embed="rId5"/>
          <a:srcRect l="0" r="0" t="0" b="0"/>
          <a:stretch/>
        </p:blipFill>
        <p:spPr>
          <a:xfrm>
            <a:off x="9643533" y="2505711"/>
            <a:ext cx="254000" cy="177800"/>
          </a:xfrm>
          <a:prstGeom prst="rect">
            <a:avLst/>
          </a:prstGeom>
        </p:spPr>
      </p:pic>
      <p:sp>
        <p:nvSpPr>
          <p:cNvPr id="25" name="Shape 18"/>
          <p:cNvSpPr/>
          <p:nvPr/>
        </p:nvSpPr>
        <p:spPr>
          <a:xfrm>
            <a:off x="9999133" y="2047239"/>
            <a:ext cx="1380067" cy="1094740"/>
          </a:xfrm>
          <a:prstGeom prst="roundRect">
            <a:avLst>
              <a:gd name="adj" fmla="val 11601"/>
            </a:avLst>
          </a:prstGeom>
          <a:solidFill>
            <a:srgbClr val="4A5578"/>
          </a:solidFill>
          <a:ln/>
        </p:spPr>
      </p:sp>
      <p:sp>
        <p:nvSpPr>
          <p:cNvPr id="26" name="Text 19"/>
          <p:cNvSpPr/>
          <p:nvPr/>
        </p:nvSpPr>
        <p:spPr>
          <a:xfrm>
            <a:off x="10100733" y="2148839"/>
            <a:ext cx="1227667" cy="4521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FFFFF"/>
                </a:solidFill>
                <a:latin typeface="DM Sans" pitchFamily="34" charset="0"/>
                <a:ea typeface="DM Sans" pitchFamily="34" charset="-122"/>
                <a:cs typeface="DM Sans" pitchFamily="34" charset="-120"/>
              </a:rPr>
              <a:t>Clinician decides</a:t>
            </a:r>
            <a:endParaRPr lang="en-US" sz="1400" dirty="0"/>
          </a:p>
        </p:txBody>
      </p:sp>
      <p:sp>
        <p:nvSpPr>
          <p:cNvPr id="27" name="Text 20"/>
          <p:cNvSpPr/>
          <p:nvPr/>
        </p:nvSpPr>
        <p:spPr>
          <a:xfrm>
            <a:off x="10100733" y="2613661"/>
            <a:ext cx="12784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E9F7"/>
                </a:solidFill>
                <a:latin typeface="DM Sans" pitchFamily="34" charset="0"/>
                <a:ea typeface="DM Sans" pitchFamily="34" charset="-122"/>
                <a:cs typeface="DM Sans" pitchFamily="34" charset="-120"/>
              </a:rPr>
              <a:t>AI never decides</a:t>
            </a:r>
            <a:endParaRPr lang="en-US" sz="1200" dirty="0"/>
          </a:p>
        </p:txBody>
      </p:sp>
      <p:sp>
        <p:nvSpPr>
          <p:cNvPr id="28" name="Text 21"/>
          <p:cNvSpPr/>
          <p:nvPr/>
        </p:nvSpPr>
        <p:spPr>
          <a:xfrm>
            <a:off x="812800" y="329437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5618A"/>
                </a:solidFill>
                <a:latin typeface="DM Sans" pitchFamily="34" charset="0"/>
                <a:ea typeface="DM Sans" pitchFamily="34" charset="-122"/>
                <a:cs typeface="DM Sans" pitchFamily="34" charset="-120"/>
              </a:rPr>
              <a:t>Critical cases and knowledge</a:t>
            </a:r>
            <a:endParaRPr lang="en-US" sz="1200" dirty="0"/>
          </a:p>
        </p:txBody>
      </p:sp>
      <p:sp>
        <p:nvSpPr>
          <p:cNvPr id="29" name="Shape 22"/>
          <p:cNvSpPr/>
          <p:nvPr/>
        </p:nvSpPr>
        <p:spPr>
          <a:xfrm>
            <a:off x="812800" y="3571239"/>
            <a:ext cx="3217333" cy="708660"/>
          </a:xfrm>
          <a:prstGeom prst="roundRect">
            <a:avLst>
              <a:gd name="adj" fmla="val 17921"/>
            </a:avLst>
          </a:prstGeom>
          <a:solidFill>
            <a:srgbClr val="B3560A"/>
          </a:solidFill>
          <a:ln/>
        </p:spPr>
      </p:sp>
      <p:sp>
        <p:nvSpPr>
          <p:cNvPr id="30" name="Text 23"/>
          <p:cNvSpPr/>
          <p:nvPr/>
        </p:nvSpPr>
        <p:spPr>
          <a:xfrm>
            <a:off x="939800" y="3672839"/>
            <a:ext cx="305223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FFFF"/>
                </a:solidFill>
                <a:latin typeface="DM Sans" pitchFamily="34" charset="0"/>
                <a:ea typeface="DM Sans" pitchFamily="34" charset="-122"/>
                <a:cs typeface="DM Sans" pitchFamily="34" charset="-120"/>
              </a:rPr>
              <a:t>Doctor approval</a:t>
            </a:r>
            <a:endParaRPr lang="en-US" sz="1500" dirty="0"/>
          </a:p>
        </p:txBody>
      </p:sp>
      <p:sp>
        <p:nvSpPr>
          <p:cNvPr id="31" name="Text 24"/>
          <p:cNvSpPr/>
          <p:nvPr/>
        </p:nvSpPr>
        <p:spPr>
          <a:xfrm>
            <a:off x="939800" y="3964939"/>
            <a:ext cx="30522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1E3"/>
                </a:solidFill>
                <a:latin typeface="DM Sans" pitchFamily="34" charset="0"/>
                <a:ea typeface="DM Sans" pitchFamily="34" charset="-122"/>
                <a:cs typeface="DM Sans" pitchFamily="34" charset="-120"/>
              </a:rPr>
              <a:t>email before release</a:t>
            </a:r>
            <a:endParaRPr lang="en-US" sz="1200" dirty="0"/>
          </a:p>
        </p:txBody>
      </p:sp>
      <p:pic>
        <p:nvPicPr>
          <p:cNvPr id="32" name="Image 5" descr="arrow-right">    </p:cNvPr>
          <p:cNvPicPr>
            <a:picLocks noChangeAspect="1"/>
          </p:cNvPicPr>
          <p:nvPr/>
        </p:nvPicPr>
        <p:blipFill>
          <a:blip r:embed="rId6"/>
          <a:srcRect l="0" r="0" t="0" b="0"/>
          <a:stretch/>
        </p:blipFill>
        <p:spPr>
          <a:xfrm>
            <a:off x="4131733" y="3836671"/>
            <a:ext cx="254000" cy="177800"/>
          </a:xfrm>
          <a:prstGeom prst="rect">
            <a:avLst/>
          </a:prstGeom>
        </p:spPr>
      </p:pic>
      <p:sp>
        <p:nvSpPr>
          <p:cNvPr id="33" name="Shape 25"/>
          <p:cNvSpPr/>
          <p:nvPr/>
        </p:nvSpPr>
        <p:spPr>
          <a:xfrm>
            <a:off x="4487333" y="3571239"/>
            <a:ext cx="3217333" cy="708660"/>
          </a:xfrm>
          <a:prstGeom prst="roundRect">
            <a:avLst>
              <a:gd name="adj" fmla="val 17921"/>
            </a:avLst>
          </a:prstGeom>
          <a:solidFill>
            <a:srgbClr val="B3560A"/>
          </a:solidFill>
          <a:ln/>
        </p:spPr>
      </p:sp>
      <p:sp>
        <p:nvSpPr>
          <p:cNvPr id="34" name="Text 26"/>
          <p:cNvSpPr/>
          <p:nvPr/>
        </p:nvSpPr>
        <p:spPr>
          <a:xfrm>
            <a:off x="4614333" y="3672839"/>
            <a:ext cx="305223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FFFF"/>
                </a:solidFill>
                <a:latin typeface="DM Sans" pitchFamily="34" charset="0"/>
                <a:ea typeface="DM Sans" pitchFamily="34" charset="-122"/>
                <a:cs typeface="DM Sans" pitchFamily="34" charset="-120"/>
              </a:rPr>
              <a:t>Release</a:t>
            </a:r>
            <a:endParaRPr lang="en-US" sz="1500" dirty="0"/>
          </a:p>
        </p:txBody>
      </p:sp>
      <p:sp>
        <p:nvSpPr>
          <p:cNvPr id="35" name="Text 27"/>
          <p:cNvSpPr/>
          <p:nvPr/>
        </p:nvSpPr>
        <p:spPr>
          <a:xfrm>
            <a:off x="4614333" y="3964939"/>
            <a:ext cx="30522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1E3"/>
                </a:solidFill>
                <a:latin typeface="DM Sans" pitchFamily="34" charset="0"/>
                <a:ea typeface="DM Sans" pitchFamily="34" charset="-122"/>
                <a:cs typeface="DM Sans" pitchFamily="34" charset="-120"/>
              </a:rPr>
              <a:t>Telegram after approval</a:t>
            </a:r>
            <a:endParaRPr lang="en-US" sz="1200" dirty="0"/>
          </a:p>
        </p:txBody>
      </p:sp>
      <p:sp>
        <p:nvSpPr>
          <p:cNvPr id="36" name="Shape 28"/>
          <p:cNvSpPr/>
          <p:nvPr/>
        </p:nvSpPr>
        <p:spPr>
          <a:xfrm>
            <a:off x="8161867" y="3571239"/>
            <a:ext cx="3217333" cy="708660"/>
          </a:xfrm>
          <a:prstGeom prst="roundRect">
            <a:avLst>
              <a:gd name="adj" fmla="val 17921"/>
            </a:avLst>
          </a:prstGeom>
          <a:solidFill>
            <a:srgbClr val="087A92"/>
          </a:solidFill>
          <a:ln/>
        </p:spPr>
      </p:sp>
      <p:sp>
        <p:nvSpPr>
          <p:cNvPr id="37" name="Text 29"/>
          <p:cNvSpPr/>
          <p:nvPr/>
        </p:nvSpPr>
        <p:spPr>
          <a:xfrm>
            <a:off x="8288867" y="3672839"/>
            <a:ext cx="305223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FFFF"/>
                </a:solidFill>
                <a:latin typeface="DM Sans" pitchFamily="34" charset="0"/>
                <a:ea typeface="DM Sans" pitchFamily="34" charset="-122"/>
                <a:cs typeface="DM Sans" pitchFamily="34" charset="-120"/>
              </a:rPr>
              <a:t>W4 · Reference PDFs</a:t>
            </a:r>
            <a:endParaRPr lang="en-US" sz="1500" dirty="0"/>
          </a:p>
        </p:txBody>
      </p:sp>
      <p:sp>
        <p:nvSpPr>
          <p:cNvPr id="38" name="Text 30"/>
          <p:cNvSpPr/>
          <p:nvPr/>
        </p:nvSpPr>
        <p:spPr>
          <a:xfrm>
            <a:off x="8288867" y="3964939"/>
            <a:ext cx="30522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0F6FB"/>
                </a:solidFill>
                <a:latin typeface="DM Sans" pitchFamily="34" charset="0"/>
                <a:ea typeface="DM Sans" pitchFamily="34" charset="-122"/>
                <a:cs typeface="DM Sans" pitchFamily="34" charset="-120"/>
              </a:rPr>
              <a:t>Drive → vector store</a:t>
            </a:r>
            <a:endParaRPr lang="en-US" sz="1200" dirty="0"/>
          </a:p>
        </p:txBody>
      </p:sp>
      <p:sp>
        <p:nvSpPr>
          <p:cNvPr id="39" name="Text 31"/>
          <p:cNvSpPr/>
          <p:nvPr/>
        </p:nvSpPr>
        <p:spPr>
          <a:xfrm>
            <a:off x="812800" y="44323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5618A"/>
                </a:solidFill>
                <a:latin typeface="DM Sans" pitchFamily="34" charset="0"/>
                <a:ea typeface="DM Sans" pitchFamily="34" charset="-122"/>
                <a:cs typeface="DM Sans" pitchFamily="34" charset="-120"/>
              </a:rPr>
              <a:t>Monitoring · every run traced</a:t>
            </a:r>
            <a:endParaRPr lang="en-US" sz="1200" dirty="0"/>
          </a:p>
        </p:txBody>
      </p:sp>
      <p:sp>
        <p:nvSpPr>
          <p:cNvPr id="40" name="Shape 32"/>
          <p:cNvSpPr/>
          <p:nvPr/>
        </p:nvSpPr>
        <p:spPr>
          <a:xfrm>
            <a:off x="812800" y="4709161"/>
            <a:ext cx="3217333" cy="708660"/>
          </a:xfrm>
          <a:prstGeom prst="roundRect">
            <a:avLst>
              <a:gd name="adj" fmla="val 17921"/>
            </a:avLst>
          </a:prstGeom>
          <a:solidFill>
            <a:srgbClr val="6A3FC8"/>
          </a:solidFill>
          <a:ln/>
        </p:spPr>
      </p:sp>
      <p:sp>
        <p:nvSpPr>
          <p:cNvPr id="41" name="Text 33"/>
          <p:cNvSpPr/>
          <p:nvPr/>
        </p:nvSpPr>
        <p:spPr>
          <a:xfrm>
            <a:off x="939800" y="4810761"/>
            <a:ext cx="305223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FFFF"/>
                </a:solidFill>
                <a:latin typeface="DM Sans" pitchFamily="34" charset="0"/>
                <a:ea typeface="DM Sans" pitchFamily="34" charset="-122"/>
                <a:cs typeface="DM Sans" pitchFamily="34" charset="-120"/>
              </a:rPr>
              <a:t>LangSmith</a:t>
            </a:r>
            <a:endParaRPr lang="en-US" sz="1500" dirty="0"/>
          </a:p>
        </p:txBody>
      </p:sp>
      <p:sp>
        <p:nvSpPr>
          <p:cNvPr id="42" name="Text 34"/>
          <p:cNvSpPr/>
          <p:nvPr/>
        </p:nvSpPr>
        <p:spPr>
          <a:xfrm>
            <a:off x="939800" y="5102861"/>
            <a:ext cx="30522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FE9FC"/>
                </a:solidFill>
                <a:latin typeface="DM Sans" pitchFamily="34" charset="0"/>
                <a:ea typeface="DM Sans" pitchFamily="34" charset="-122"/>
                <a:cs typeface="DM Sans" pitchFamily="34" charset="-120"/>
              </a:rPr>
              <a:t>traces of every run</a:t>
            </a:r>
            <a:endParaRPr lang="en-US" sz="1200" dirty="0"/>
          </a:p>
        </p:txBody>
      </p:sp>
      <p:pic>
        <p:nvPicPr>
          <p:cNvPr id="43" name="Image 6" descr="arrow-right">    </p:cNvPr>
          <p:cNvPicPr>
            <a:picLocks noChangeAspect="1"/>
          </p:cNvPicPr>
          <p:nvPr/>
        </p:nvPicPr>
        <p:blipFill>
          <a:blip r:embed="rId7"/>
          <a:srcRect l="0" r="0" t="0" b="0"/>
          <a:stretch/>
        </p:blipFill>
        <p:spPr>
          <a:xfrm>
            <a:off x="4131733" y="4974589"/>
            <a:ext cx="254000" cy="177800"/>
          </a:xfrm>
          <a:prstGeom prst="rect">
            <a:avLst/>
          </a:prstGeom>
        </p:spPr>
      </p:pic>
      <p:sp>
        <p:nvSpPr>
          <p:cNvPr id="44" name="Shape 35"/>
          <p:cNvSpPr/>
          <p:nvPr/>
        </p:nvSpPr>
        <p:spPr>
          <a:xfrm>
            <a:off x="4487333" y="4709161"/>
            <a:ext cx="3217333" cy="708660"/>
          </a:xfrm>
          <a:prstGeom prst="roundRect">
            <a:avLst>
              <a:gd name="adj" fmla="val 17921"/>
            </a:avLst>
          </a:prstGeom>
          <a:solidFill>
            <a:srgbClr val="6A3FC8"/>
          </a:solidFill>
          <a:ln/>
        </p:spPr>
      </p:sp>
      <p:sp>
        <p:nvSpPr>
          <p:cNvPr id="45" name="Text 36"/>
          <p:cNvSpPr/>
          <p:nvPr/>
        </p:nvSpPr>
        <p:spPr>
          <a:xfrm>
            <a:off x="4614333" y="4810761"/>
            <a:ext cx="305223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FFFF"/>
                </a:solidFill>
                <a:latin typeface="DM Sans" pitchFamily="34" charset="0"/>
                <a:ea typeface="DM Sans" pitchFamily="34" charset="-122"/>
                <a:cs typeface="DM Sans" pitchFamily="34" charset="-120"/>
              </a:rPr>
              <a:t>W6 · LLM judge</a:t>
            </a:r>
            <a:endParaRPr lang="en-US" sz="1500" dirty="0"/>
          </a:p>
        </p:txBody>
      </p:sp>
      <p:sp>
        <p:nvSpPr>
          <p:cNvPr id="46" name="Text 37"/>
          <p:cNvSpPr/>
          <p:nvPr/>
        </p:nvSpPr>
        <p:spPr>
          <a:xfrm>
            <a:off x="4614333" y="5102861"/>
            <a:ext cx="30522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FE9FC"/>
                </a:solidFill>
                <a:latin typeface="DM Sans" pitchFamily="34" charset="0"/>
                <a:ea typeface="DM Sans" pitchFamily="34" charset="-122"/>
                <a:cs typeface="DM Sans" pitchFamily="34" charset="-120"/>
              </a:rPr>
              <a:t>5 scores · hard stop</a:t>
            </a:r>
            <a:endParaRPr lang="en-US" sz="1200" dirty="0"/>
          </a:p>
        </p:txBody>
      </p:sp>
      <p:pic>
        <p:nvPicPr>
          <p:cNvPr id="47" name="Image 7" descr="arrow-right">    </p:cNvPr>
          <p:cNvPicPr>
            <a:picLocks noChangeAspect="1"/>
          </p:cNvPicPr>
          <p:nvPr/>
        </p:nvPicPr>
        <p:blipFill>
          <a:blip r:embed="rId8"/>
          <a:srcRect l="0" r="0" t="0" b="0"/>
          <a:stretch/>
        </p:blipFill>
        <p:spPr>
          <a:xfrm>
            <a:off x="7806267" y="4974589"/>
            <a:ext cx="254000" cy="177800"/>
          </a:xfrm>
          <a:prstGeom prst="rect">
            <a:avLst/>
          </a:prstGeom>
        </p:spPr>
      </p:pic>
      <p:sp>
        <p:nvSpPr>
          <p:cNvPr id="48" name="Shape 38"/>
          <p:cNvSpPr/>
          <p:nvPr/>
        </p:nvSpPr>
        <p:spPr>
          <a:xfrm>
            <a:off x="8161867" y="4709161"/>
            <a:ext cx="3217333" cy="708660"/>
          </a:xfrm>
          <a:prstGeom prst="roundRect">
            <a:avLst>
              <a:gd name="adj" fmla="val 17921"/>
            </a:avLst>
          </a:prstGeom>
          <a:solidFill>
            <a:srgbClr val="6A3FC8"/>
          </a:solidFill>
          <a:ln/>
        </p:spPr>
      </p:sp>
      <p:sp>
        <p:nvSpPr>
          <p:cNvPr id="49" name="Text 39"/>
          <p:cNvSpPr/>
          <p:nvPr/>
        </p:nvSpPr>
        <p:spPr>
          <a:xfrm>
            <a:off x="8288867" y="4810761"/>
            <a:ext cx="305223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FFFFF"/>
                </a:solidFill>
                <a:latin typeface="DM Sans" pitchFamily="34" charset="0"/>
                <a:ea typeface="DM Sans" pitchFamily="34" charset="-122"/>
                <a:cs typeface="DM Sans" pitchFamily="34" charset="-120"/>
              </a:rPr>
              <a:t>W5 · Alerts</a:t>
            </a:r>
            <a:endParaRPr lang="en-US" sz="1500" dirty="0"/>
          </a:p>
        </p:txBody>
      </p:sp>
      <p:sp>
        <p:nvSpPr>
          <p:cNvPr id="50" name="Text 40"/>
          <p:cNvSpPr/>
          <p:nvPr/>
        </p:nvSpPr>
        <p:spPr>
          <a:xfrm>
            <a:off x="8288867" y="5102861"/>
            <a:ext cx="30522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FE9FC"/>
                </a:solidFill>
                <a:latin typeface="DM Sans" pitchFamily="34" charset="0"/>
                <a:ea typeface="DM Sans" pitchFamily="34" charset="-122"/>
                <a:cs typeface="DM Sans" pitchFamily="34" charset="-120"/>
              </a:rPr>
              <a:t>Telegram to a person</a:t>
            </a:r>
            <a:endParaRPr lang="en-US" sz="1200" dirty="0"/>
          </a:p>
        </p:txBody>
      </p:sp>
      <p:sp>
        <p:nvSpPr>
          <p:cNvPr id="51" name="Text 41"/>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8A"/>
                </a:solidFill>
                <a:latin typeface="DM Sans" pitchFamily="34" charset="0"/>
                <a:ea typeface="DM Sans" pitchFamily="34" charset="-122"/>
                <a:cs typeface="DM Sans" pitchFamily="34" charset="-120"/>
              </a:rPr>
              <a:t>ToxWatch · DEPI Track IND3-G2 · synthetic data only</a:t>
            </a:r>
            <a:endParaRPr lang="en-US" sz="1200" dirty="0"/>
          </a:p>
        </p:txBody>
      </p:sp>
      <p:sp>
        <p:nvSpPr>
          <p:cNvPr id="52" name="Text 42"/>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18A"/>
                </a:solidFill>
                <a:latin typeface="DM Sans" pitchFamily="34" charset="0"/>
                <a:ea typeface="DM Sans" pitchFamily="34" charset="-122"/>
                <a:cs typeface="DM Sans" pitchFamily="34" charset="-120"/>
              </a:rPr>
              <a:t>5 /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2B47A8"/>
                </a:solidFill>
                <a:latin typeface="DM Sans" pitchFamily="34" charset="0"/>
                <a:ea typeface="DM Sans" pitchFamily="34" charset="-122"/>
                <a:cs typeface="DM Sans" pitchFamily="34" charset="-120"/>
              </a:rPr>
              <a:t>WORKFLOW 1 · TOXICOLOGY ADVISOR</a:t>
            </a:r>
            <a:endParaRPr lang="en-US" sz="1300" dirty="0"/>
          </a:p>
        </p:txBody>
      </p:sp>
      <p:sp>
        <p:nvSpPr>
          <p:cNvPr id="3" name="Text 1"/>
          <p:cNvSpPr/>
          <p:nvPr>
            <p:ph type="title"/>
          </p:nvPr>
        </p:nvSpPr>
        <p:spPr>
          <a:xfrm>
            <a:off x="812800" y="1120139"/>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21F54"/>
                </a:solidFill>
                <a:latin typeface="DM Sans" pitchFamily="34" charset="0"/>
                <a:ea typeface="DM Sans" pitchFamily="34" charset="-122"/>
                <a:cs typeface="DM Sans" pitchFamily="34" charset="-120"/>
              </a:rPr>
              <a:t>Who is asking, and is it safe to answer?</a:t>
            </a:r>
            <a:endParaRPr lang="en-US" sz="3000" dirty="0"/>
          </a:p>
        </p:txBody>
      </p:sp>
      <p:sp>
        <p:nvSpPr>
          <p:cNvPr id="4" name="Shape 2"/>
          <p:cNvSpPr/>
          <p:nvPr/>
        </p:nvSpPr>
        <p:spPr>
          <a:xfrm>
            <a:off x="815975" y="1694814"/>
            <a:ext cx="3448050" cy="701040"/>
          </a:xfrm>
          <a:prstGeom prst="roundRect">
            <a:avLst>
              <a:gd name="adj" fmla="val 15851"/>
            </a:avLst>
          </a:prstGeom>
          <a:solidFill>
            <a:srgbClr val="FFFFFF"/>
          </a:solidFill>
          <a:ln w="6350">
            <a:solidFill>
              <a:srgbClr val="D9E1F2"/>
            </a:solidFill>
            <a:prstDash val="solid"/>
          </a:ln>
        </p:spPr>
      </p:sp>
      <p:sp>
        <p:nvSpPr>
          <p:cNvPr id="5" name="Text 3"/>
          <p:cNvSpPr/>
          <p:nvPr/>
        </p:nvSpPr>
        <p:spPr>
          <a:xfrm>
            <a:off x="971550" y="1812289"/>
            <a:ext cx="32310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47A8"/>
                </a:solidFill>
                <a:latin typeface="DM Sans" pitchFamily="34" charset="0"/>
                <a:ea typeface="DM Sans" pitchFamily="34" charset="-122"/>
                <a:cs typeface="DM Sans" pitchFamily="34" charset="-120"/>
              </a:rPr>
              <a:t>TRIGGER</a:t>
            </a:r>
            <a:endParaRPr lang="en-US" sz="1200" dirty="0"/>
          </a:p>
        </p:txBody>
      </p:sp>
      <p:sp>
        <p:nvSpPr>
          <p:cNvPr id="6" name="Text 4"/>
          <p:cNvSpPr/>
          <p:nvPr/>
        </p:nvSpPr>
        <p:spPr>
          <a:xfrm>
            <a:off x="971550" y="2063750"/>
            <a:ext cx="3231007"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1F54"/>
                </a:solidFill>
                <a:latin typeface="DM Sans" pitchFamily="34" charset="0"/>
                <a:ea typeface="DM Sans" pitchFamily="34" charset="-122"/>
                <a:cs typeface="DM Sans" pitchFamily="34" charset="-120"/>
              </a:rPr>
              <a:t>Telegram message or web chat</a:t>
            </a:r>
            <a:endParaRPr lang="en-US" sz="1300" dirty="0"/>
          </a:p>
        </p:txBody>
      </p:sp>
      <p:sp>
        <p:nvSpPr>
          <p:cNvPr id="7" name="Shape 5"/>
          <p:cNvSpPr/>
          <p:nvPr/>
        </p:nvSpPr>
        <p:spPr>
          <a:xfrm>
            <a:off x="4371975" y="1694814"/>
            <a:ext cx="3448050" cy="701040"/>
          </a:xfrm>
          <a:prstGeom prst="roundRect">
            <a:avLst>
              <a:gd name="adj" fmla="val 15851"/>
            </a:avLst>
          </a:prstGeom>
          <a:solidFill>
            <a:srgbClr val="FFFFFF"/>
          </a:solidFill>
          <a:ln w="6350">
            <a:solidFill>
              <a:srgbClr val="D9E1F2"/>
            </a:solidFill>
            <a:prstDash val="solid"/>
          </a:ln>
        </p:spPr>
      </p:sp>
      <p:sp>
        <p:nvSpPr>
          <p:cNvPr id="8" name="Text 6"/>
          <p:cNvSpPr/>
          <p:nvPr/>
        </p:nvSpPr>
        <p:spPr>
          <a:xfrm>
            <a:off x="4527550" y="1812289"/>
            <a:ext cx="32310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47A8"/>
                </a:solidFill>
                <a:latin typeface="DM Sans" pitchFamily="34" charset="0"/>
                <a:ea typeface="DM Sans" pitchFamily="34" charset="-122"/>
                <a:cs typeface="DM Sans" pitchFamily="34" charset="-120"/>
              </a:rPr>
              <a:t>INPUT</a:t>
            </a:r>
            <a:endParaRPr lang="en-US" sz="1200" dirty="0"/>
          </a:p>
        </p:txBody>
      </p:sp>
      <p:sp>
        <p:nvSpPr>
          <p:cNvPr id="9" name="Text 7"/>
          <p:cNvSpPr/>
          <p:nvPr/>
        </p:nvSpPr>
        <p:spPr>
          <a:xfrm>
            <a:off x="4527550" y="2063750"/>
            <a:ext cx="3231007"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1F54"/>
                </a:solidFill>
                <a:latin typeface="DM Sans" pitchFamily="34" charset="0"/>
                <a:ea typeface="DM Sans" pitchFamily="34" charset="-122"/>
                <a:cs typeface="DM Sans" pitchFamily="34" charset="-120"/>
              </a:rPr>
              <a:t>text, voice note or audio file</a:t>
            </a:r>
            <a:endParaRPr lang="en-US" sz="1300" dirty="0"/>
          </a:p>
        </p:txBody>
      </p:sp>
      <p:sp>
        <p:nvSpPr>
          <p:cNvPr id="10" name="Shape 8"/>
          <p:cNvSpPr/>
          <p:nvPr/>
        </p:nvSpPr>
        <p:spPr>
          <a:xfrm>
            <a:off x="7927975" y="1694814"/>
            <a:ext cx="3448050" cy="701040"/>
          </a:xfrm>
          <a:prstGeom prst="roundRect">
            <a:avLst>
              <a:gd name="adj" fmla="val 15851"/>
            </a:avLst>
          </a:prstGeom>
          <a:solidFill>
            <a:srgbClr val="FFFFFF"/>
          </a:solidFill>
          <a:ln w="6350">
            <a:solidFill>
              <a:srgbClr val="D9E1F2"/>
            </a:solidFill>
            <a:prstDash val="solid"/>
          </a:ln>
        </p:spPr>
      </p:sp>
      <p:sp>
        <p:nvSpPr>
          <p:cNvPr id="11" name="Text 9"/>
          <p:cNvSpPr/>
          <p:nvPr/>
        </p:nvSpPr>
        <p:spPr>
          <a:xfrm>
            <a:off x="8083550" y="1812289"/>
            <a:ext cx="32310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47A8"/>
                </a:solidFill>
                <a:latin typeface="DM Sans" pitchFamily="34" charset="0"/>
                <a:ea typeface="DM Sans" pitchFamily="34" charset="-122"/>
                <a:cs typeface="DM Sans" pitchFamily="34" charset="-120"/>
              </a:rPr>
              <a:t>OUTPUT</a:t>
            </a:r>
            <a:endParaRPr lang="en-US" sz="1200" dirty="0"/>
          </a:p>
        </p:txBody>
      </p:sp>
      <p:sp>
        <p:nvSpPr>
          <p:cNvPr id="12" name="Text 10"/>
          <p:cNvSpPr/>
          <p:nvPr/>
        </p:nvSpPr>
        <p:spPr>
          <a:xfrm>
            <a:off x="8083550" y="2063750"/>
            <a:ext cx="3289300"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1F54"/>
                </a:solidFill>
                <a:latin typeface="DM Sans" pitchFamily="34" charset="0"/>
                <a:ea typeface="DM Sans" pitchFamily="34" charset="-122"/>
                <a:cs typeface="DM Sans" pitchFamily="34" charset="-120"/>
              </a:rPr>
              <a:t>cited answer for the clinician, or a refusal</a:t>
            </a:r>
            <a:endParaRPr lang="en-US" sz="1300" dirty="0"/>
          </a:p>
        </p:txBody>
      </p:sp>
      <p:sp>
        <p:nvSpPr>
          <p:cNvPr id="13" name="Text 11"/>
          <p:cNvSpPr/>
          <p:nvPr/>
        </p:nvSpPr>
        <p:spPr>
          <a:xfrm>
            <a:off x="812800" y="2746059"/>
            <a:ext cx="789940"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2B47A8"/>
                </a:solidFill>
                <a:latin typeface="DM Sans" pitchFamily="34" charset="0"/>
                <a:ea typeface="DM Sans" pitchFamily="34" charset="-122"/>
                <a:cs typeface="DM Sans" pitchFamily="34" charset="-120"/>
              </a:rPr>
              <a:t>1 · GATE</a:t>
            </a:r>
            <a:endParaRPr lang="en-US" sz="1300" dirty="0"/>
          </a:p>
        </p:txBody>
      </p:sp>
      <p:sp>
        <p:nvSpPr>
          <p:cNvPr id="14" name="Shape 12"/>
          <p:cNvSpPr/>
          <p:nvPr/>
        </p:nvSpPr>
        <p:spPr>
          <a:xfrm>
            <a:off x="2352675" y="2554604"/>
            <a:ext cx="2952750" cy="614045"/>
          </a:xfrm>
          <a:prstGeom prst="roundRect">
            <a:avLst>
              <a:gd name="adj" fmla="val 13961"/>
            </a:avLst>
          </a:prstGeom>
          <a:solidFill>
            <a:srgbClr val="FFFFFF"/>
          </a:solidFill>
          <a:ln w="6350">
            <a:solidFill>
              <a:srgbClr val="D9E1F2"/>
            </a:solidFill>
            <a:prstDash val="solid"/>
          </a:ln>
        </p:spPr>
      </p:sp>
      <p:sp>
        <p:nvSpPr>
          <p:cNvPr id="15" name="Text 13"/>
          <p:cNvSpPr/>
          <p:nvPr/>
        </p:nvSpPr>
        <p:spPr>
          <a:xfrm>
            <a:off x="2457450" y="2646679"/>
            <a:ext cx="282549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Telegram message</a:t>
            </a:r>
            <a:endParaRPr lang="en-US" sz="1300" dirty="0"/>
          </a:p>
        </p:txBody>
      </p:sp>
      <p:sp>
        <p:nvSpPr>
          <p:cNvPr id="16" name="Text 14"/>
          <p:cNvSpPr/>
          <p:nvPr/>
        </p:nvSpPr>
        <p:spPr>
          <a:xfrm>
            <a:off x="2457450" y="2878454"/>
            <a:ext cx="282549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voice, audio or text</a:t>
            </a:r>
            <a:endParaRPr lang="en-US" sz="1200" dirty="0"/>
          </a:p>
        </p:txBody>
      </p:sp>
      <p:sp>
        <p:nvSpPr>
          <p:cNvPr id="17" name="Shape 15"/>
          <p:cNvSpPr/>
          <p:nvPr/>
        </p:nvSpPr>
        <p:spPr>
          <a:xfrm>
            <a:off x="5387975" y="2554604"/>
            <a:ext cx="2952750" cy="614045"/>
          </a:xfrm>
          <a:prstGeom prst="roundRect">
            <a:avLst>
              <a:gd name="adj" fmla="val 13961"/>
            </a:avLst>
          </a:prstGeom>
          <a:solidFill>
            <a:srgbClr val="FFFFFF"/>
          </a:solidFill>
          <a:ln w="6350">
            <a:solidFill>
              <a:srgbClr val="D9E1F2"/>
            </a:solidFill>
            <a:prstDash val="solid"/>
          </a:ln>
        </p:spPr>
      </p:sp>
      <p:sp>
        <p:nvSpPr>
          <p:cNvPr id="18" name="Text 16"/>
          <p:cNvSpPr/>
          <p:nvPr/>
        </p:nvSpPr>
        <p:spPr>
          <a:xfrm>
            <a:off x="5492750" y="2646679"/>
            <a:ext cx="282549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Access check</a:t>
            </a:r>
            <a:endParaRPr lang="en-US" sz="1300" dirty="0"/>
          </a:p>
        </p:txBody>
      </p:sp>
      <p:sp>
        <p:nvSpPr>
          <p:cNvPr id="19" name="Text 17"/>
          <p:cNvSpPr/>
          <p:nvPr/>
        </p:nvSpPr>
        <p:spPr>
          <a:xfrm>
            <a:off x="5492750" y="2878454"/>
            <a:ext cx="282549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username + ID, else denied</a:t>
            </a:r>
            <a:endParaRPr lang="en-US" sz="1200" dirty="0"/>
          </a:p>
        </p:txBody>
      </p:sp>
      <p:sp>
        <p:nvSpPr>
          <p:cNvPr id="20" name="Shape 18"/>
          <p:cNvSpPr/>
          <p:nvPr/>
        </p:nvSpPr>
        <p:spPr>
          <a:xfrm>
            <a:off x="8423275" y="2554604"/>
            <a:ext cx="2952750" cy="614045"/>
          </a:xfrm>
          <a:prstGeom prst="roundRect">
            <a:avLst>
              <a:gd name="adj" fmla="val 13961"/>
            </a:avLst>
          </a:prstGeom>
          <a:solidFill>
            <a:srgbClr val="FFFFFF"/>
          </a:solidFill>
          <a:ln w="6350">
            <a:solidFill>
              <a:srgbClr val="D9E1F2"/>
            </a:solidFill>
            <a:prstDash val="solid"/>
          </a:ln>
        </p:spPr>
      </p:sp>
      <p:sp>
        <p:nvSpPr>
          <p:cNvPr id="21" name="Text 19"/>
          <p:cNvSpPr/>
          <p:nvPr/>
        </p:nvSpPr>
        <p:spPr>
          <a:xfrm>
            <a:off x="8528050" y="2646679"/>
            <a:ext cx="282549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Pause check</a:t>
            </a:r>
            <a:endParaRPr lang="en-US" sz="1300" dirty="0"/>
          </a:p>
        </p:txBody>
      </p:sp>
      <p:sp>
        <p:nvSpPr>
          <p:cNvPr id="22" name="Text 20"/>
          <p:cNvSpPr/>
          <p:nvPr/>
        </p:nvSpPr>
        <p:spPr>
          <a:xfrm>
            <a:off x="8528050" y="2878454"/>
            <a:ext cx="282549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hard stop from the judge</a:t>
            </a:r>
            <a:endParaRPr lang="en-US" sz="1200" dirty="0"/>
          </a:p>
        </p:txBody>
      </p:sp>
      <p:sp>
        <p:nvSpPr>
          <p:cNvPr id="23" name="Text 21"/>
          <p:cNvSpPr/>
          <p:nvPr/>
        </p:nvSpPr>
        <p:spPr>
          <a:xfrm>
            <a:off x="812800" y="3518852"/>
            <a:ext cx="1492123"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2B47A8"/>
                </a:solidFill>
                <a:latin typeface="DM Sans" pitchFamily="34" charset="0"/>
                <a:ea typeface="DM Sans" pitchFamily="34" charset="-122"/>
                <a:cs typeface="DM Sans" pitchFamily="34" charset="-120"/>
              </a:rPr>
              <a:t>2 · NORMALIZE</a:t>
            </a:r>
            <a:endParaRPr lang="en-US" sz="1300" dirty="0"/>
          </a:p>
        </p:txBody>
      </p:sp>
      <p:sp>
        <p:nvSpPr>
          <p:cNvPr id="24" name="Shape 22"/>
          <p:cNvSpPr/>
          <p:nvPr/>
        </p:nvSpPr>
        <p:spPr>
          <a:xfrm>
            <a:off x="2352675" y="3327400"/>
            <a:ext cx="2193925" cy="614045"/>
          </a:xfrm>
          <a:prstGeom prst="roundRect">
            <a:avLst>
              <a:gd name="adj" fmla="val 13961"/>
            </a:avLst>
          </a:prstGeom>
          <a:solidFill>
            <a:srgbClr val="FFFFFF"/>
          </a:solidFill>
          <a:ln w="6350">
            <a:solidFill>
              <a:srgbClr val="D9E1F2"/>
            </a:solidFill>
            <a:prstDash val="solid"/>
          </a:ln>
        </p:spPr>
      </p:sp>
      <p:sp>
        <p:nvSpPr>
          <p:cNvPr id="25" name="Text 23"/>
          <p:cNvSpPr/>
          <p:nvPr/>
        </p:nvSpPr>
        <p:spPr>
          <a:xfrm>
            <a:off x="2457450" y="3419475"/>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Input type</a:t>
            </a:r>
            <a:endParaRPr lang="en-US" sz="1300" dirty="0"/>
          </a:p>
        </p:txBody>
      </p:sp>
      <p:sp>
        <p:nvSpPr>
          <p:cNvPr id="26" name="Text 24"/>
          <p:cNvSpPr/>
          <p:nvPr/>
        </p:nvSpPr>
        <p:spPr>
          <a:xfrm>
            <a:off x="2457450" y="3651250"/>
            <a:ext cx="204390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voice · audio · text</a:t>
            </a:r>
            <a:endParaRPr lang="en-US" sz="1200" dirty="0"/>
          </a:p>
        </p:txBody>
      </p:sp>
      <p:sp>
        <p:nvSpPr>
          <p:cNvPr id="27" name="Shape 25"/>
          <p:cNvSpPr/>
          <p:nvPr/>
        </p:nvSpPr>
        <p:spPr>
          <a:xfrm>
            <a:off x="4629150" y="3327400"/>
            <a:ext cx="2193925" cy="614045"/>
          </a:xfrm>
          <a:prstGeom prst="roundRect">
            <a:avLst>
              <a:gd name="adj" fmla="val 13961"/>
            </a:avLst>
          </a:prstGeom>
          <a:solidFill>
            <a:srgbClr val="FFFFFF"/>
          </a:solidFill>
          <a:ln w="6350">
            <a:solidFill>
              <a:srgbClr val="D9E1F2"/>
            </a:solidFill>
            <a:prstDash val="solid"/>
          </a:ln>
        </p:spPr>
      </p:sp>
      <p:sp>
        <p:nvSpPr>
          <p:cNvPr id="28" name="Text 26"/>
          <p:cNvSpPr/>
          <p:nvPr/>
        </p:nvSpPr>
        <p:spPr>
          <a:xfrm>
            <a:off x="4733925" y="3419475"/>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Gemini transcribes</a:t>
            </a:r>
            <a:endParaRPr lang="en-US" sz="1300" dirty="0"/>
          </a:p>
        </p:txBody>
      </p:sp>
      <p:sp>
        <p:nvSpPr>
          <p:cNvPr id="29" name="Text 27"/>
          <p:cNvSpPr/>
          <p:nvPr/>
        </p:nvSpPr>
        <p:spPr>
          <a:xfrm>
            <a:off x="4733925" y="3651250"/>
            <a:ext cx="204390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Arabic and English</a:t>
            </a:r>
            <a:endParaRPr lang="en-US" sz="1200" dirty="0"/>
          </a:p>
        </p:txBody>
      </p:sp>
      <p:sp>
        <p:nvSpPr>
          <p:cNvPr id="30" name="Shape 28"/>
          <p:cNvSpPr/>
          <p:nvPr/>
        </p:nvSpPr>
        <p:spPr>
          <a:xfrm>
            <a:off x="6905625" y="3327400"/>
            <a:ext cx="2193925" cy="614045"/>
          </a:xfrm>
          <a:prstGeom prst="roundRect">
            <a:avLst>
              <a:gd name="adj" fmla="val 13961"/>
            </a:avLst>
          </a:prstGeom>
          <a:solidFill>
            <a:srgbClr val="FFFFFF"/>
          </a:solidFill>
          <a:ln w="6350">
            <a:solidFill>
              <a:srgbClr val="D9E1F2"/>
            </a:solidFill>
            <a:prstDash val="solid"/>
          </a:ln>
        </p:spPr>
      </p:sp>
      <p:sp>
        <p:nvSpPr>
          <p:cNvPr id="31" name="Text 29"/>
          <p:cNvSpPr/>
          <p:nvPr/>
        </p:nvSpPr>
        <p:spPr>
          <a:xfrm>
            <a:off x="7010400" y="3419475"/>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Whisper fallback</a:t>
            </a:r>
            <a:endParaRPr lang="en-US" sz="1300" dirty="0"/>
          </a:p>
        </p:txBody>
      </p:sp>
      <p:sp>
        <p:nvSpPr>
          <p:cNvPr id="32" name="Text 30"/>
          <p:cNvSpPr/>
          <p:nvPr/>
        </p:nvSpPr>
        <p:spPr>
          <a:xfrm>
            <a:off x="7010400" y="3651250"/>
            <a:ext cx="204390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via Groq if Gemini fails</a:t>
            </a:r>
            <a:endParaRPr lang="en-US" sz="1200" dirty="0"/>
          </a:p>
        </p:txBody>
      </p:sp>
      <p:sp>
        <p:nvSpPr>
          <p:cNvPr id="33" name="Shape 31"/>
          <p:cNvSpPr/>
          <p:nvPr/>
        </p:nvSpPr>
        <p:spPr>
          <a:xfrm>
            <a:off x="9182100" y="3327400"/>
            <a:ext cx="2193925" cy="614045"/>
          </a:xfrm>
          <a:prstGeom prst="roundRect">
            <a:avLst>
              <a:gd name="adj" fmla="val 13961"/>
            </a:avLst>
          </a:prstGeom>
          <a:solidFill>
            <a:srgbClr val="FFFFFF"/>
          </a:solidFill>
          <a:ln w="6350">
            <a:solidFill>
              <a:srgbClr val="D9E1F2"/>
            </a:solidFill>
            <a:prstDash val="solid"/>
          </a:ln>
        </p:spPr>
      </p:sp>
      <p:sp>
        <p:nvSpPr>
          <p:cNvPr id="34" name="Text 32"/>
          <p:cNvSpPr/>
          <p:nvPr/>
        </p:nvSpPr>
        <p:spPr>
          <a:xfrm>
            <a:off x="9286875" y="3419475"/>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Length check</a:t>
            </a:r>
            <a:endParaRPr lang="en-US" sz="1300" dirty="0"/>
          </a:p>
        </p:txBody>
      </p:sp>
      <p:sp>
        <p:nvSpPr>
          <p:cNvPr id="35" name="Text 33"/>
          <p:cNvSpPr/>
          <p:nvPr/>
        </p:nvSpPr>
        <p:spPr>
          <a:xfrm>
            <a:off x="9286875" y="3651250"/>
            <a:ext cx="204390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under 20,000 characters</a:t>
            </a:r>
            <a:endParaRPr lang="en-US" sz="1200" dirty="0"/>
          </a:p>
        </p:txBody>
      </p:sp>
      <p:sp>
        <p:nvSpPr>
          <p:cNvPr id="36" name="Text 34"/>
          <p:cNvSpPr/>
          <p:nvPr/>
        </p:nvSpPr>
        <p:spPr>
          <a:xfrm>
            <a:off x="812800" y="4291648"/>
            <a:ext cx="1240409"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2B47A8"/>
                </a:solidFill>
                <a:latin typeface="DM Sans" pitchFamily="34" charset="0"/>
                <a:ea typeface="DM Sans" pitchFamily="34" charset="-122"/>
                <a:cs typeface="DM Sans" pitchFamily="34" charset="-120"/>
              </a:rPr>
              <a:t>3 · PROTECT</a:t>
            </a:r>
            <a:endParaRPr lang="en-US" sz="1300" dirty="0"/>
          </a:p>
        </p:txBody>
      </p:sp>
      <p:sp>
        <p:nvSpPr>
          <p:cNvPr id="37" name="Shape 35"/>
          <p:cNvSpPr/>
          <p:nvPr/>
        </p:nvSpPr>
        <p:spPr>
          <a:xfrm>
            <a:off x="2352675" y="4100196"/>
            <a:ext cx="2193925" cy="614045"/>
          </a:xfrm>
          <a:prstGeom prst="roundRect">
            <a:avLst>
              <a:gd name="adj" fmla="val 13961"/>
            </a:avLst>
          </a:prstGeom>
          <a:solidFill>
            <a:srgbClr val="FFFFFF"/>
          </a:solidFill>
          <a:ln w="6350">
            <a:solidFill>
              <a:srgbClr val="D9E1F2"/>
            </a:solidFill>
            <a:prstDash val="solid"/>
          </a:ln>
        </p:spPr>
      </p:sp>
      <p:sp>
        <p:nvSpPr>
          <p:cNvPr id="38" name="Text 36"/>
          <p:cNvSpPr/>
          <p:nvPr/>
        </p:nvSpPr>
        <p:spPr>
          <a:xfrm>
            <a:off x="2457450" y="4192271"/>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Regex + Presidio</a:t>
            </a:r>
            <a:endParaRPr lang="en-US" sz="1300" dirty="0"/>
          </a:p>
        </p:txBody>
      </p:sp>
      <p:sp>
        <p:nvSpPr>
          <p:cNvPr id="39" name="Text 37"/>
          <p:cNvSpPr/>
          <p:nvPr/>
        </p:nvSpPr>
        <p:spPr>
          <a:xfrm>
            <a:off x="2457450" y="4424046"/>
            <a:ext cx="204390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find names, IDs, phones</a:t>
            </a:r>
            <a:endParaRPr lang="en-US" sz="1200" dirty="0"/>
          </a:p>
        </p:txBody>
      </p:sp>
      <p:sp>
        <p:nvSpPr>
          <p:cNvPr id="40" name="Shape 38"/>
          <p:cNvSpPr/>
          <p:nvPr/>
        </p:nvSpPr>
        <p:spPr>
          <a:xfrm>
            <a:off x="4629150" y="4100196"/>
            <a:ext cx="2193925" cy="614045"/>
          </a:xfrm>
          <a:prstGeom prst="roundRect">
            <a:avLst>
              <a:gd name="adj" fmla="val 13961"/>
            </a:avLst>
          </a:prstGeom>
          <a:solidFill>
            <a:srgbClr val="FFFFFF"/>
          </a:solidFill>
          <a:ln w="6350">
            <a:solidFill>
              <a:srgbClr val="D9E1F2"/>
            </a:solidFill>
            <a:prstDash val="solid"/>
          </a:ln>
        </p:spPr>
      </p:sp>
      <p:sp>
        <p:nvSpPr>
          <p:cNvPr id="41" name="Text 39"/>
          <p:cNvSpPr/>
          <p:nvPr/>
        </p:nvSpPr>
        <p:spPr>
          <a:xfrm>
            <a:off x="4733925" y="4192271"/>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De-identify</a:t>
            </a:r>
            <a:endParaRPr lang="en-US" sz="1300" dirty="0"/>
          </a:p>
        </p:txBody>
      </p:sp>
      <p:sp>
        <p:nvSpPr>
          <p:cNvPr id="42" name="Text 40"/>
          <p:cNvSpPr/>
          <p:nvPr/>
        </p:nvSpPr>
        <p:spPr>
          <a:xfrm>
            <a:off x="4733925" y="4424046"/>
            <a:ext cx="204390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tokens, 5-minute expiry</a:t>
            </a:r>
            <a:endParaRPr lang="en-US" sz="1200" dirty="0"/>
          </a:p>
        </p:txBody>
      </p:sp>
      <p:sp>
        <p:nvSpPr>
          <p:cNvPr id="43" name="Shape 41"/>
          <p:cNvSpPr/>
          <p:nvPr/>
        </p:nvSpPr>
        <p:spPr>
          <a:xfrm>
            <a:off x="6905625" y="4100196"/>
            <a:ext cx="2193925" cy="614045"/>
          </a:xfrm>
          <a:prstGeom prst="roundRect">
            <a:avLst>
              <a:gd name="adj" fmla="val 13961"/>
            </a:avLst>
          </a:prstGeom>
          <a:solidFill>
            <a:srgbClr val="FFFFFF"/>
          </a:solidFill>
          <a:ln w="6350">
            <a:solidFill>
              <a:srgbClr val="D9E1F2"/>
            </a:solidFill>
            <a:prstDash val="solid"/>
          </a:ln>
        </p:spPr>
      </p:sp>
      <p:sp>
        <p:nvSpPr>
          <p:cNvPr id="44" name="Text 42"/>
          <p:cNvSpPr/>
          <p:nvPr/>
        </p:nvSpPr>
        <p:spPr>
          <a:xfrm>
            <a:off x="7010400" y="4192271"/>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Injection guard</a:t>
            </a:r>
            <a:endParaRPr lang="en-US" sz="1300" dirty="0"/>
          </a:p>
        </p:txBody>
      </p:sp>
      <p:sp>
        <p:nvSpPr>
          <p:cNvPr id="45" name="Text 43"/>
          <p:cNvSpPr/>
          <p:nvPr/>
        </p:nvSpPr>
        <p:spPr>
          <a:xfrm>
            <a:off x="7010400" y="4424046"/>
            <a:ext cx="204390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Arabic + English patterns</a:t>
            </a:r>
            <a:endParaRPr lang="en-US" sz="1200" dirty="0"/>
          </a:p>
        </p:txBody>
      </p:sp>
      <p:sp>
        <p:nvSpPr>
          <p:cNvPr id="46" name="Shape 44"/>
          <p:cNvSpPr/>
          <p:nvPr/>
        </p:nvSpPr>
        <p:spPr>
          <a:xfrm>
            <a:off x="9182100" y="4100196"/>
            <a:ext cx="2193925" cy="614045"/>
          </a:xfrm>
          <a:prstGeom prst="roundRect">
            <a:avLst>
              <a:gd name="adj" fmla="val 13961"/>
            </a:avLst>
          </a:prstGeom>
          <a:solidFill>
            <a:srgbClr val="FFFFFF"/>
          </a:solidFill>
          <a:ln w="6350">
            <a:solidFill>
              <a:srgbClr val="D9E1F2"/>
            </a:solidFill>
            <a:prstDash val="solid"/>
          </a:ln>
        </p:spPr>
      </p:sp>
      <p:sp>
        <p:nvSpPr>
          <p:cNvPr id="47" name="Text 45"/>
          <p:cNvSpPr/>
          <p:nvPr/>
        </p:nvSpPr>
        <p:spPr>
          <a:xfrm>
            <a:off x="9286875" y="4192271"/>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Self-harm guard</a:t>
            </a:r>
            <a:endParaRPr lang="en-US" sz="1300" dirty="0"/>
          </a:p>
        </p:txBody>
      </p:sp>
      <p:sp>
        <p:nvSpPr>
          <p:cNvPr id="48" name="Text 46"/>
          <p:cNvSpPr/>
          <p:nvPr/>
        </p:nvSpPr>
        <p:spPr>
          <a:xfrm>
            <a:off x="9286875" y="4424046"/>
            <a:ext cx="204390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refuse, point to 123</a:t>
            </a:r>
            <a:endParaRPr lang="en-US" sz="1200" dirty="0"/>
          </a:p>
        </p:txBody>
      </p:sp>
      <p:sp>
        <p:nvSpPr>
          <p:cNvPr id="49" name="Text 47"/>
          <p:cNvSpPr/>
          <p:nvPr/>
        </p:nvSpPr>
        <p:spPr>
          <a:xfrm>
            <a:off x="812800" y="5163502"/>
            <a:ext cx="1193673"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2B47A8"/>
                </a:solidFill>
                <a:latin typeface="DM Sans" pitchFamily="34" charset="0"/>
                <a:ea typeface="DM Sans" pitchFamily="34" charset="-122"/>
                <a:cs typeface="DM Sans" pitchFamily="34" charset="-120"/>
              </a:rPr>
              <a:t>4 · ANSWER</a:t>
            </a:r>
            <a:endParaRPr lang="en-US" sz="1300" dirty="0"/>
          </a:p>
        </p:txBody>
      </p:sp>
      <p:sp>
        <p:nvSpPr>
          <p:cNvPr id="50" name="Shape 48"/>
          <p:cNvSpPr/>
          <p:nvPr/>
        </p:nvSpPr>
        <p:spPr>
          <a:xfrm>
            <a:off x="2352675" y="4872989"/>
            <a:ext cx="2193925" cy="812165"/>
          </a:xfrm>
          <a:prstGeom prst="roundRect">
            <a:avLst>
              <a:gd name="adj" fmla="val 10555"/>
            </a:avLst>
          </a:prstGeom>
          <a:solidFill>
            <a:srgbClr val="FFFFFF"/>
          </a:solidFill>
          <a:ln w="6350">
            <a:solidFill>
              <a:srgbClr val="D9E1F2"/>
            </a:solidFill>
            <a:prstDash val="solid"/>
          </a:ln>
        </p:spPr>
      </p:sp>
      <p:sp>
        <p:nvSpPr>
          <p:cNvPr id="51" name="Text 49"/>
          <p:cNvSpPr/>
          <p:nvPr/>
        </p:nvSpPr>
        <p:spPr>
          <a:xfrm>
            <a:off x="2457450" y="4965064"/>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Risk Router (W2)</a:t>
            </a:r>
            <a:endParaRPr lang="en-US" sz="1300" dirty="0"/>
          </a:p>
        </p:txBody>
      </p:sp>
      <p:sp>
        <p:nvSpPr>
          <p:cNvPr id="52" name="Text 50"/>
          <p:cNvSpPr/>
          <p:nvPr/>
        </p:nvSpPr>
        <p:spPr>
          <a:xfrm>
            <a:off x="2457450" y="5196839"/>
            <a:ext cx="204390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tier before any answer</a:t>
            </a:r>
            <a:endParaRPr lang="en-US" sz="1200" dirty="0"/>
          </a:p>
        </p:txBody>
      </p:sp>
      <p:sp>
        <p:nvSpPr>
          <p:cNvPr id="53" name="Shape 51"/>
          <p:cNvSpPr/>
          <p:nvPr/>
        </p:nvSpPr>
        <p:spPr>
          <a:xfrm>
            <a:off x="4629150" y="4872989"/>
            <a:ext cx="2193925" cy="812165"/>
          </a:xfrm>
          <a:prstGeom prst="roundRect">
            <a:avLst>
              <a:gd name="adj" fmla="val 10555"/>
            </a:avLst>
          </a:prstGeom>
          <a:solidFill>
            <a:srgbClr val="FFFFFF"/>
          </a:solidFill>
          <a:ln w="6350">
            <a:solidFill>
              <a:srgbClr val="D9E1F2"/>
            </a:solidFill>
            <a:prstDash val="solid"/>
          </a:ln>
        </p:spPr>
      </p:sp>
      <p:sp>
        <p:nvSpPr>
          <p:cNvPr id="54" name="Text 52"/>
          <p:cNvSpPr/>
          <p:nvPr/>
        </p:nvSpPr>
        <p:spPr>
          <a:xfrm>
            <a:off x="4733925" y="4965064"/>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Case Analyzer (W3)</a:t>
            </a:r>
            <a:endParaRPr lang="en-US" sz="1300" dirty="0"/>
          </a:p>
        </p:txBody>
      </p:sp>
      <p:sp>
        <p:nvSpPr>
          <p:cNvPr id="55" name="Text 53"/>
          <p:cNvSpPr/>
          <p:nvPr/>
        </p:nvSpPr>
        <p:spPr>
          <a:xfrm>
            <a:off x="4733925" y="5196839"/>
            <a:ext cx="204390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dose + cited findings</a:t>
            </a:r>
            <a:endParaRPr lang="en-US" sz="1200" dirty="0"/>
          </a:p>
        </p:txBody>
      </p:sp>
      <p:sp>
        <p:nvSpPr>
          <p:cNvPr id="56" name="Shape 54"/>
          <p:cNvSpPr/>
          <p:nvPr/>
        </p:nvSpPr>
        <p:spPr>
          <a:xfrm>
            <a:off x="6905625" y="4872989"/>
            <a:ext cx="2193925" cy="812165"/>
          </a:xfrm>
          <a:prstGeom prst="roundRect">
            <a:avLst>
              <a:gd name="adj" fmla="val 10555"/>
            </a:avLst>
          </a:prstGeom>
          <a:solidFill>
            <a:srgbClr val="FFFFFF"/>
          </a:solidFill>
          <a:ln w="6350">
            <a:solidFill>
              <a:srgbClr val="D9E1F2"/>
            </a:solidFill>
            <a:prstDash val="solid"/>
          </a:ln>
        </p:spPr>
      </p:sp>
      <p:sp>
        <p:nvSpPr>
          <p:cNvPr id="57" name="Text 55"/>
          <p:cNvSpPr/>
          <p:nvPr/>
        </p:nvSpPr>
        <p:spPr>
          <a:xfrm>
            <a:off x="7010400" y="4965064"/>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Advisor agent</a:t>
            </a:r>
            <a:endParaRPr lang="en-US" sz="1300" dirty="0"/>
          </a:p>
        </p:txBody>
      </p:sp>
      <p:sp>
        <p:nvSpPr>
          <p:cNvPr id="58" name="Text 56"/>
          <p:cNvSpPr/>
          <p:nvPr/>
        </p:nvSpPr>
        <p:spPr>
          <a:xfrm>
            <a:off x="7010400" y="5196839"/>
            <a:ext cx="2043906"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openFDA · PubMed · memory</a:t>
            </a:r>
            <a:endParaRPr lang="en-US" sz="1200" dirty="0"/>
          </a:p>
        </p:txBody>
      </p:sp>
      <p:sp>
        <p:nvSpPr>
          <p:cNvPr id="59" name="Shape 57"/>
          <p:cNvSpPr/>
          <p:nvPr/>
        </p:nvSpPr>
        <p:spPr>
          <a:xfrm>
            <a:off x="9182100" y="4872989"/>
            <a:ext cx="2193925" cy="812165"/>
          </a:xfrm>
          <a:prstGeom prst="roundRect">
            <a:avLst>
              <a:gd name="adj" fmla="val 10555"/>
            </a:avLst>
          </a:prstGeom>
          <a:solidFill>
            <a:srgbClr val="FFFFFF"/>
          </a:solidFill>
          <a:ln w="6350">
            <a:solidFill>
              <a:srgbClr val="D9E1F2"/>
            </a:solidFill>
            <a:prstDash val="solid"/>
          </a:ln>
        </p:spPr>
      </p:sp>
      <p:sp>
        <p:nvSpPr>
          <p:cNvPr id="60" name="Text 58"/>
          <p:cNvSpPr/>
          <p:nvPr/>
        </p:nvSpPr>
        <p:spPr>
          <a:xfrm>
            <a:off x="9286875" y="4965064"/>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Re-identify + audit</a:t>
            </a:r>
            <a:endParaRPr lang="en-US" sz="1300" dirty="0"/>
          </a:p>
        </p:txBody>
      </p:sp>
      <p:sp>
        <p:nvSpPr>
          <p:cNvPr id="61" name="Text 59"/>
          <p:cNvSpPr/>
          <p:nvPr/>
        </p:nvSpPr>
        <p:spPr>
          <a:xfrm>
            <a:off x="9286875" y="5196839"/>
            <a:ext cx="204390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tokens restored, logged</a:t>
            </a:r>
            <a:endParaRPr lang="en-US" sz="1200" dirty="0"/>
          </a:p>
        </p:txBody>
      </p:sp>
      <p:sp>
        <p:nvSpPr>
          <p:cNvPr id="62" name="Text 60"/>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8A"/>
                </a:solidFill>
                <a:latin typeface="DM Sans" pitchFamily="34" charset="0"/>
                <a:ea typeface="DM Sans" pitchFamily="34" charset="-122"/>
                <a:cs typeface="DM Sans" pitchFamily="34" charset="-120"/>
              </a:rPr>
              <a:t>ToxWatch · DEPI Track IND3-G2 · synthetic data only</a:t>
            </a:r>
            <a:endParaRPr lang="en-US" sz="1200" dirty="0"/>
          </a:p>
        </p:txBody>
      </p:sp>
      <p:sp>
        <p:nvSpPr>
          <p:cNvPr id="63" name="Text 61"/>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18A"/>
                </a:solidFill>
                <a:latin typeface="DM Sans" pitchFamily="34" charset="0"/>
                <a:ea typeface="DM Sans" pitchFamily="34" charset="-122"/>
                <a:cs typeface="DM Sans" pitchFamily="34" charset="-120"/>
              </a:rPr>
              <a:t>6 /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3560A"/>
                </a:solidFill>
                <a:latin typeface="DM Sans" pitchFamily="34" charset="0"/>
                <a:ea typeface="DM Sans" pitchFamily="34" charset="-122"/>
                <a:cs typeface="DM Sans" pitchFamily="34" charset="-120"/>
              </a:rPr>
              <a:t>WORKFLOW 2 · RISK-BASED MODEL ROUTING</a:t>
            </a:r>
            <a:endParaRPr lang="en-US" sz="1300" dirty="0"/>
          </a:p>
        </p:txBody>
      </p:sp>
      <p:sp>
        <p:nvSpPr>
          <p:cNvPr id="3" name="Text 1"/>
          <p:cNvSpPr/>
          <p:nvPr>
            <p:ph type="title"/>
          </p:nvPr>
        </p:nvSpPr>
        <p:spPr>
          <a:xfrm>
            <a:off x="812800" y="1120139"/>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21F54"/>
                </a:solidFill>
                <a:latin typeface="DM Sans" pitchFamily="34" charset="0"/>
                <a:ea typeface="DM Sans" pitchFamily="34" charset="-122"/>
                <a:cs typeface="DM Sans" pitchFamily="34" charset="-120"/>
              </a:rPr>
              <a:t>How risky is this question?</a:t>
            </a:r>
            <a:endParaRPr lang="en-US" sz="3000" dirty="0"/>
          </a:p>
        </p:txBody>
      </p:sp>
      <p:sp>
        <p:nvSpPr>
          <p:cNvPr id="4" name="Shape 2"/>
          <p:cNvSpPr/>
          <p:nvPr/>
        </p:nvSpPr>
        <p:spPr>
          <a:xfrm>
            <a:off x="815975" y="1694814"/>
            <a:ext cx="3448050" cy="701040"/>
          </a:xfrm>
          <a:prstGeom prst="roundRect">
            <a:avLst>
              <a:gd name="adj" fmla="val 15851"/>
            </a:avLst>
          </a:prstGeom>
          <a:solidFill>
            <a:srgbClr val="FFFFFF"/>
          </a:solidFill>
          <a:ln w="6350">
            <a:solidFill>
              <a:srgbClr val="D9E1F2"/>
            </a:solidFill>
            <a:prstDash val="solid"/>
          </a:ln>
        </p:spPr>
      </p:sp>
      <p:sp>
        <p:nvSpPr>
          <p:cNvPr id="5" name="Text 3"/>
          <p:cNvSpPr/>
          <p:nvPr/>
        </p:nvSpPr>
        <p:spPr>
          <a:xfrm>
            <a:off x="971550" y="1812289"/>
            <a:ext cx="32310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3560A"/>
                </a:solidFill>
                <a:latin typeface="DM Sans" pitchFamily="34" charset="0"/>
                <a:ea typeface="DM Sans" pitchFamily="34" charset="-122"/>
                <a:cs typeface="DM Sans" pitchFamily="34" charset="-120"/>
              </a:rPr>
              <a:t>TRIGGER</a:t>
            </a:r>
            <a:endParaRPr lang="en-US" sz="1200" dirty="0"/>
          </a:p>
        </p:txBody>
      </p:sp>
      <p:sp>
        <p:nvSpPr>
          <p:cNvPr id="6" name="Text 4"/>
          <p:cNvSpPr/>
          <p:nvPr/>
        </p:nvSpPr>
        <p:spPr>
          <a:xfrm>
            <a:off x="971550" y="2063750"/>
            <a:ext cx="3231007"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1F54"/>
                </a:solidFill>
                <a:latin typeface="DM Sans" pitchFamily="34" charset="0"/>
                <a:ea typeface="DM Sans" pitchFamily="34" charset="-122"/>
                <a:cs typeface="DM Sans" pitchFamily="34" charset="-120"/>
              </a:rPr>
              <a:t>POST webhook with a header key</a:t>
            </a:r>
            <a:endParaRPr lang="en-US" sz="1300" dirty="0"/>
          </a:p>
        </p:txBody>
      </p:sp>
      <p:sp>
        <p:nvSpPr>
          <p:cNvPr id="7" name="Shape 5"/>
          <p:cNvSpPr/>
          <p:nvPr/>
        </p:nvSpPr>
        <p:spPr>
          <a:xfrm>
            <a:off x="4371975" y="1694814"/>
            <a:ext cx="3448050" cy="701040"/>
          </a:xfrm>
          <a:prstGeom prst="roundRect">
            <a:avLst>
              <a:gd name="adj" fmla="val 15851"/>
            </a:avLst>
          </a:prstGeom>
          <a:solidFill>
            <a:srgbClr val="FFFFFF"/>
          </a:solidFill>
          <a:ln w="6350">
            <a:solidFill>
              <a:srgbClr val="D9E1F2"/>
            </a:solidFill>
            <a:prstDash val="solid"/>
          </a:ln>
        </p:spPr>
      </p:sp>
      <p:sp>
        <p:nvSpPr>
          <p:cNvPr id="8" name="Text 6"/>
          <p:cNvSpPr/>
          <p:nvPr/>
        </p:nvSpPr>
        <p:spPr>
          <a:xfrm>
            <a:off x="4527550" y="1812289"/>
            <a:ext cx="32310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3560A"/>
                </a:solidFill>
                <a:latin typeface="DM Sans" pitchFamily="34" charset="0"/>
                <a:ea typeface="DM Sans" pitchFamily="34" charset="-122"/>
                <a:cs typeface="DM Sans" pitchFamily="34" charset="-120"/>
              </a:rPr>
              <a:t>INPUT</a:t>
            </a:r>
            <a:endParaRPr lang="en-US" sz="1200" dirty="0"/>
          </a:p>
        </p:txBody>
      </p:sp>
      <p:sp>
        <p:nvSpPr>
          <p:cNvPr id="9" name="Text 7"/>
          <p:cNvSpPr/>
          <p:nvPr/>
        </p:nvSpPr>
        <p:spPr>
          <a:xfrm>
            <a:off x="4527550" y="2063750"/>
            <a:ext cx="3231007"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1F54"/>
                </a:solidFill>
                <a:latin typeface="DM Sans" pitchFamily="34" charset="0"/>
                <a:ea typeface="DM Sans" pitchFamily="34" charset="-122"/>
                <a:cs typeface="DM Sans" pitchFamily="34" charset="-120"/>
              </a:rPr>
              <a:t>question text, up to 8,000 characters</a:t>
            </a:r>
            <a:endParaRPr lang="en-US" sz="1300" dirty="0"/>
          </a:p>
        </p:txBody>
      </p:sp>
      <p:sp>
        <p:nvSpPr>
          <p:cNvPr id="10" name="Shape 8"/>
          <p:cNvSpPr/>
          <p:nvPr/>
        </p:nvSpPr>
        <p:spPr>
          <a:xfrm>
            <a:off x="7927975" y="1694814"/>
            <a:ext cx="3448050" cy="701040"/>
          </a:xfrm>
          <a:prstGeom prst="roundRect">
            <a:avLst>
              <a:gd name="adj" fmla="val 15851"/>
            </a:avLst>
          </a:prstGeom>
          <a:solidFill>
            <a:srgbClr val="FFFFFF"/>
          </a:solidFill>
          <a:ln w="6350">
            <a:solidFill>
              <a:srgbClr val="D9E1F2"/>
            </a:solidFill>
            <a:prstDash val="solid"/>
          </a:ln>
        </p:spPr>
      </p:sp>
      <p:sp>
        <p:nvSpPr>
          <p:cNvPr id="11" name="Text 9"/>
          <p:cNvSpPr/>
          <p:nvPr/>
        </p:nvSpPr>
        <p:spPr>
          <a:xfrm>
            <a:off x="8083550" y="1812289"/>
            <a:ext cx="32310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3560A"/>
                </a:solidFill>
                <a:latin typeface="DM Sans" pitchFamily="34" charset="0"/>
                <a:ea typeface="DM Sans" pitchFamily="34" charset="-122"/>
                <a:cs typeface="DM Sans" pitchFamily="34" charset="-120"/>
              </a:rPr>
              <a:t>OUTPUT</a:t>
            </a:r>
            <a:endParaRPr lang="en-US" sz="1200" dirty="0"/>
          </a:p>
        </p:txBody>
      </p:sp>
      <p:sp>
        <p:nvSpPr>
          <p:cNvPr id="12" name="Text 10"/>
          <p:cNvSpPr/>
          <p:nvPr/>
        </p:nvSpPr>
        <p:spPr>
          <a:xfrm>
            <a:off x="8083550" y="2063750"/>
            <a:ext cx="3231007"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1F54"/>
                </a:solidFill>
                <a:latin typeface="DM Sans" pitchFamily="34" charset="0"/>
                <a:ea typeface="DM Sans" pitchFamily="34" charset="-122"/>
                <a:cs typeface="DM Sans" pitchFamily="34" charset="-120"/>
              </a:rPr>
              <a:t>risk tier, plus an answer or a hold</a:t>
            </a:r>
            <a:endParaRPr lang="en-US" sz="1300" dirty="0"/>
          </a:p>
        </p:txBody>
      </p:sp>
      <p:sp>
        <p:nvSpPr>
          <p:cNvPr id="13" name="Text 11"/>
          <p:cNvSpPr/>
          <p:nvPr/>
        </p:nvSpPr>
        <p:spPr>
          <a:xfrm>
            <a:off x="812800" y="2746059"/>
            <a:ext cx="1149223"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B3560A"/>
                </a:solidFill>
                <a:latin typeface="DM Sans" pitchFamily="34" charset="0"/>
                <a:ea typeface="DM Sans" pitchFamily="34" charset="-122"/>
                <a:cs typeface="DM Sans" pitchFamily="34" charset="-120"/>
              </a:rPr>
              <a:t>1 · PREPARE</a:t>
            </a:r>
            <a:endParaRPr lang="en-US" sz="1300" dirty="0"/>
          </a:p>
        </p:txBody>
      </p:sp>
      <p:sp>
        <p:nvSpPr>
          <p:cNvPr id="14" name="Shape 12"/>
          <p:cNvSpPr/>
          <p:nvPr/>
        </p:nvSpPr>
        <p:spPr>
          <a:xfrm>
            <a:off x="2352675" y="2554604"/>
            <a:ext cx="2952750" cy="614045"/>
          </a:xfrm>
          <a:prstGeom prst="roundRect">
            <a:avLst>
              <a:gd name="adj" fmla="val 13961"/>
            </a:avLst>
          </a:prstGeom>
          <a:solidFill>
            <a:srgbClr val="FFFFFF"/>
          </a:solidFill>
          <a:ln w="6350">
            <a:solidFill>
              <a:srgbClr val="D9E1F2"/>
            </a:solidFill>
            <a:prstDash val="solid"/>
          </a:ln>
        </p:spPr>
      </p:sp>
      <p:sp>
        <p:nvSpPr>
          <p:cNvPr id="15" name="Text 13"/>
          <p:cNvSpPr/>
          <p:nvPr/>
        </p:nvSpPr>
        <p:spPr>
          <a:xfrm>
            <a:off x="2457450" y="2646679"/>
            <a:ext cx="282549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Webhook intake</a:t>
            </a:r>
            <a:endParaRPr lang="en-US" sz="1300" dirty="0"/>
          </a:p>
        </p:txBody>
      </p:sp>
      <p:sp>
        <p:nvSpPr>
          <p:cNvPr id="16" name="Text 14"/>
          <p:cNvSpPr/>
          <p:nvPr/>
        </p:nvSpPr>
        <p:spPr>
          <a:xfrm>
            <a:off x="2457450" y="2878454"/>
            <a:ext cx="282549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header-key authentication</a:t>
            </a:r>
            <a:endParaRPr lang="en-US" sz="1200" dirty="0"/>
          </a:p>
        </p:txBody>
      </p:sp>
      <p:sp>
        <p:nvSpPr>
          <p:cNvPr id="17" name="Shape 15"/>
          <p:cNvSpPr/>
          <p:nvPr/>
        </p:nvSpPr>
        <p:spPr>
          <a:xfrm>
            <a:off x="5387975" y="2554604"/>
            <a:ext cx="2952750" cy="614045"/>
          </a:xfrm>
          <a:prstGeom prst="roundRect">
            <a:avLst>
              <a:gd name="adj" fmla="val 13961"/>
            </a:avLst>
          </a:prstGeom>
          <a:solidFill>
            <a:srgbClr val="FFFFFF"/>
          </a:solidFill>
          <a:ln w="6350">
            <a:solidFill>
              <a:srgbClr val="D9E1F2"/>
            </a:solidFill>
            <a:prstDash val="solid"/>
          </a:ln>
        </p:spPr>
      </p:sp>
      <p:sp>
        <p:nvSpPr>
          <p:cNvPr id="18" name="Text 16"/>
          <p:cNvSpPr/>
          <p:nvPr/>
        </p:nvSpPr>
        <p:spPr>
          <a:xfrm>
            <a:off x="5492750" y="2646679"/>
            <a:ext cx="282549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Build envelope</a:t>
            </a:r>
            <a:endParaRPr lang="en-US" sz="1300" dirty="0"/>
          </a:p>
        </p:txBody>
      </p:sp>
      <p:sp>
        <p:nvSpPr>
          <p:cNvPr id="19" name="Text 17"/>
          <p:cNvSpPr/>
          <p:nvPr/>
        </p:nvSpPr>
        <p:spPr>
          <a:xfrm>
            <a:off x="5492750" y="2878454"/>
            <a:ext cx="282549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request id, channel, time</a:t>
            </a:r>
            <a:endParaRPr lang="en-US" sz="1200" dirty="0"/>
          </a:p>
        </p:txBody>
      </p:sp>
      <p:sp>
        <p:nvSpPr>
          <p:cNvPr id="20" name="Shape 18"/>
          <p:cNvSpPr/>
          <p:nvPr/>
        </p:nvSpPr>
        <p:spPr>
          <a:xfrm>
            <a:off x="8423275" y="2554604"/>
            <a:ext cx="2952750" cy="614045"/>
          </a:xfrm>
          <a:prstGeom prst="roundRect">
            <a:avLst>
              <a:gd name="adj" fmla="val 13961"/>
            </a:avLst>
          </a:prstGeom>
          <a:solidFill>
            <a:srgbClr val="FFFFFF"/>
          </a:solidFill>
          <a:ln w="6350">
            <a:solidFill>
              <a:srgbClr val="D9E1F2"/>
            </a:solidFill>
            <a:prstDash val="solid"/>
          </a:ln>
        </p:spPr>
      </p:sp>
      <p:sp>
        <p:nvSpPr>
          <p:cNvPr id="21" name="Text 19"/>
          <p:cNvSpPr/>
          <p:nvPr/>
        </p:nvSpPr>
        <p:spPr>
          <a:xfrm>
            <a:off x="8528050" y="2646679"/>
            <a:ext cx="282549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PHI mask</a:t>
            </a:r>
            <a:endParaRPr lang="en-US" sz="1300" dirty="0"/>
          </a:p>
        </p:txBody>
      </p:sp>
      <p:sp>
        <p:nvSpPr>
          <p:cNvPr id="22" name="Text 20"/>
          <p:cNvSpPr/>
          <p:nvPr/>
        </p:nvSpPr>
        <p:spPr>
          <a:xfrm>
            <a:off x="8528050" y="2878454"/>
            <a:ext cx="282549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irreversible masking</a:t>
            </a:r>
            <a:endParaRPr lang="en-US" sz="1200" dirty="0"/>
          </a:p>
        </p:txBody>
      </p:sp>
      <p:sp>
        <p:nvSpPr>
          <p:cNvPr id="23" name="Text 21"/>
          <p:cNvSpPr/>
          <p:nvPr/>
        </p:nvSpPr>
        <p:spPr>
          <a:xfrm>
            <a:off x="812800" y="3518852"/>
            <a:ext cx="1033018"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B3560A"/>
                </a:solidFill>
                <a:latin typeface="DM Sans" pitchFamily="34" charset="0"/>
                <a:ea typeface="DM Sans" pitchFamily="34" charset="-122"/>
                <a:cs typeface="DM Sans" pitchFamily="34" charset="-120"/>
              </a:rPr>
              <a:t>2 · TRIAGE</a:t>
            </a:r>
            <a:endParaRPr lang="en-US" sz="1300" dirty="0"/>
          </a:p>
        </p:txBody>
      </p:sp>
      <p:sp>
        <p:nvSpPr>
          <p:cNvPr id="24" name="Shape 22"/>
          <p:cNvSpPr/>
          <p:nvPr/>
        </p:nvSpPr>
        <p:spPr>
          <a:xfrm>
            <a:off x="2352675" y="3327400"/>
            <a:ext cx="2952750" cy="614045"/>
          </a:xfrm>
          <a:prstGeom prst="roundRect">
            <a:avLst>
              <a:gd name="adj" fmla="val 13961"/>
            </a:avLst>
          </a:prstGeom>
          <a:solidFill>
            <a:srgbClr val="FFFFFF"/>
          </a:solidFill>
          <a:ln w="6350">
            <a:solidFill>
              <a:srgbClr val="D9E1F2"/>
            </a:solidFill>
            <a:prstDash val="solid"/>
          </a:ln>
        </p:spPr>
      </p:sp>
      <p:sp>
        <p:nvSpPr>
          <p:cNvPr id="25" name="Text 23"/>
          <p:cNvSpPr/>
          <p:nvPr/>
        </p:nvSpPr>
        <p:spPr>
          <a:xfrm>
            <a:off x="2457450" y="3419475"/>
            <a:ext cx="282549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Rule-based floor</a:t>
            </a:r>
            <a:endParaRPr lang="en-US" sz="1300" dirty="0"/>
          </a:p>
        </p:txBody>
      </p:sp>
      <p:sp>
        <p:nvSpPr>
          <p:cNvPr id="26" name="Text 24"/>
          <p:cNvSpPr/>
          <p:nvPr/>
        </p:nvSpPr>
        <p:spPr>
          <a:xfrm>
            <a:off x="2457450" y="3651250"/>
            <a:ext cx="282549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regex on danger words</a:t>
            </a:r>
            <a:endParaRPr lang="en-US" sz="1200" dirty="0"/>
          </a:p>
        </p:txBody>
      </p:sp>
      <p:sp>
        <p:nvSpPr>
          <p:cNvPr id="27" name="Shape 25"/>
          <p:cNvSpPr/>
          <p:nvPr/>
        </p:nvSpPr>
        <p:spPr>
          <a:xfrm>
            <a:off x="5387975" y="3327400"/>
            <a:ext cx="2952750" cy="614045"/>
          </a:xfrm>
          <a:prstGeom prst="roundRect">
            <a:avLst>
              <a:gd name="adj" fmla="val 13961"/>
            </a:avLst>
          </a:prstGeom>
          <a:solidFill>
            <a:srgbClr val="FFFFFF"/>
          </a:solidFill>
          <a:ln w="6350">
            <a:solidFill>
              <a:srgbClr val="D9E1F2"/>
            </a:solidFill>
            <a:prstDash val="solid"/>
          </a:ln>
        </p:spPr>
      </p:sp>
      <p:sp>
        <p:nvSpPr>
          <p:cNvPr id="28" name="Text 26"/>
          <p:cNvSpPr/>
          <p:nvPr/>
        </p:nvSpPr>
        <p:spPr>
          <a:xfrm>
            <a:off x="5492750" y="3419475"/>
            <a:ext cx="282549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Triage agent</a:t>
            </a:r>
            <a:endParaRPr lang="en-US" sz="1300" dirty="0"/>
          </a:p>
        </p:txBody>
      </p:sp>
      <p:sp>
        <p:nvSpPr>
          <p:cNvPr id="29" name="Text 27"/>
          <p:cNvSpPr/>
          <p:nvPr/>
        </p:nvSpPr>
        <p:spPr>
          <a:xfrm>
            <a:off x="5492750" y="3651250"/>
            <a:ext cx="282549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LLM tier and rationale</a:t>
            </a:r>
            <a:endParaRPr lang="en-US" sz="1200" dirty="0"/>
          </a:p>
        </p:txBody>
      </p:sp>
      <p:sp>
        <p:nvSpPr>
          <p:cNvPr id="30" name="Shape 28"/>
          <p:cNvSpPr/>
          <p:nvPr/>
        </p:nvSpPr>
        <p:spPr>
          <a:xfrm>
            <a:off x="8423275" y="3327400"/>
            <a:ext cx="2952750" cy="614045"/>
          </a:xfrm>
          <a:prstGeom prst="roundRect">
            <a:avLst>
              <a:gd name="adj" fmla="val 13961"/>
            </a:avLst>
          </a:prstGeom>
          <a:solidFill>
            <a:srgbClr val="FFFFFF"/>
          </a:solidFill>
          <a:ln w="6350">
            <a:solidFill>
              <a:srgbClr val="D9E1F2"/>
            </a:solidFill>
            <a:prstDash val="solid"/>
          </a:ln>
        </p:spPr>
      </p:sp>
      <p:sp>
        <p:nvSpPr>
          <p:cNvPr id="31" name="Text 29"/>
          <p:cNvSpPr/>
          <p:nvPr/>
        </p:nvSpPr>
        <p:spPr>
          <a:xfrm>
            <a:off x="8528050" y="3419475"/>
            <a:ext cx="282549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Validate tier</a:t>
            </a:r>
            <a:endParaRPr lang="en-US" sz="1300" dirty="0"/>
          </a:p>
        </p:txBody>
      </p:sp>
      <p:sp>
        <p:nvSpPr>
          <p:cNvPr id="32" name="Text 30"/>
          <p:cNvSpPr/>
          <p:nvPr/>
        </p:nvSpPr>
        <p:spPr>
          <a:xfrm>
            <a:off x="8528050" y="3651250"/>
            <a:ext cx="282549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model raises, never lowers</a:t>
            </a:r>
            <a:endParaRPr lang="en-US" sz="1200" dirty="0"/>
          </a:p>
        </p:txBody>
      </p:sp>
      <p:sp>
        <p:nvSpPr>
          <p:cNvPr id="33" name="Text 31"/>
          <p:cNvSpPr/>
          <p:nvPr/>
        </p:nvSpPr>
        <p:spPr>
          <a:xfrm>
            <a:off x="812800" y="4291648"/>
            <a:ext cx="1184402"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B3560A"/>
                </a:solidFill>
                <a:latin typeface="DM Sans" pitchFamily="34" charset="0"/>
                <a:ea typeface="DM Sans" pitchFamily="34" charset="-122"/>
                <a:cs typeface="DM Sans" pitchFamily="34" charset="-120"/>
              </a:rPr>
              <a:t>3 · ANSWER</a:t>
            </a:r>
            <a:endParaRPr lang="en-US" sz="1300" dirty="0"/>
          </a:p>
        </p:txBody>
      </p:sp>
      <p:sp>
        <p:nvSpPr>
          <p:cNvPr id="34" name="Shape 32"/>
          <p:cNvSpPr/>
          <p:nvPr/>
        </p:nvSpPr>
        <p:spPr>
          <a:xfrm>
            <a:off x="2352675" y="4100196"/>
            <a:ext cx="2193925" cy="614045"/>
          </a:xfrm>
          <a:prstGeom prst="roundRect">
            <a:avLst>
              <a:gd name="adj" fmla="val 13961"/>
            </a:avLst>
          </a:prstGeom>
          <a:solidFill>
            <a:srgbClr val="FFFFFF"/>
          </a:solidFill>
          <a:ln w="6350">
            <a:solidFill>
              <a:srgbClr val="D9E1F2"/>
            </a:solidFill>
            <a:prstDash val="solid"/>
          </a:ln>
        </p:spPr>
      </p:sp>
      <p:sp>
        <p:nvSpPr>
          <p:cNvPr id="35" name="Text 33"/>
          <p:cNvSpPr/>
          <p:nvPr/>
        </p:nvSpPr>
        <p:spPr>
          <a:xfrm>
            <a:off x="2457450" y="4192271"/>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Low</a:t>
            </a:r>
            <a:endParaRPr lang="en-US" sz="1300" dirty="0"/>
          </a:p>
        </p:txBody>
      </p:sp>
      <p:sp>
        <p:nvSpPr>
          <p:cNvPr id="36" name="Text 34"/>
          <p:cNvSpPr/>
          <p:nvPr/>
        </p:nvSpPr>
        <p:spPr>
          <a:xfrm>
            <a:off x="2457450" y="4424046"/>
            <a:ext cx="2085975"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local Llama, Gemini fallback</a:t>
            </a:r>
            <a:endParaRPr lang="en-US" sz="1200" dirty="0"/>
          </a:p>
        </p:txBody>
      </p:sp>
      <p:sp>
        <p:nvSpPr>
          <p:cNvPr id="37" name="Shape 35"/>
          <p:cNvSpPr/>
          <p:nvPr/>
        </p:nvSpPr>
        <p:spPr>
          <a:xfrm>
            <a:off x="4629150" y="4100196"/>
            <a:ext cx="2193925" cy="614045"/>
          </a:xfrm>
          <a:prstGeom prst="roundRect">
            <a:avLst>
              <a:gd name="adj" fmla="val 13961"/>
            </a:avLst>
          </a:prstGeom>
          <a:solidFill>
            <a:srgbClr val="FFFFFF"/>
          </a:solidFill>
          <a:ln w="6350">
            <a:solidFill>
              <a:srgbClr val="D9E1F2"/>
            </a:solidFill>
            <a:prstDash val="solid"/>
          </a:ln>
        </p:spPr>
      </p:sp>
      <p:sp>
        <p:nvSpPr>
          <p:cNvPr id="38" name="Text 36"/>
          <p:cNvSpPr/>
          <p:nvPr/>
        </p:nvSpPr>
        <p:spPr>
          <a:xfrm>
            <a:off x="4733925" y="4192271"/>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Medium</a:t>
            </a:r>
            <a:endParaRPr lang="en-US" sz="1300" dirty="0"/>
          </a:p>
        </p:txBody>
      </p:sp>
      <p:sp>
        <p:nvSpPr>
          <p:cNvPr id="39" name="Text 37"/>
          <p:cNvSpPr/>
          <p:nvPr/>
        </p:nvSpPr>
        <p:spPr>
          <a:xfrm>
            <a:off x="4733925" y="4424046"/>
            <a:ext cx="204390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Gemini 3.5 Flash</a:t>
            </a:r>
            <a:endParaRPr lang="en-US" sz="1200" dirty="0"/>
          </a:p>
        </p:txBody>
      </p:sp>
      <p:sp>
        <p:nvSpPr>
          <p:cNvPr id="40" name="Shape 38"/>
          <p:cNvSpPr/>
          <p:nvPr/>
        </p:nvSpPr>
        <p:spPr>
          <a:xfrm>
            <a:off x="6905625" y="4100196"/>
            <a:ext cx="2193925" cy="614045"/>
          </a:xfrm>
          <a:prstGeom prst="roundRect">
            <a:avLst>
              <a:gd name="adj" fmla="val 13961"/>
            </a:avLst>
          </a:prstGeom>
          <a:solidFill>
            <a:srgbClr val="FFFFFF"/>
          </a:solidFill>
          <a:ln w="6350">
            <a:solidFill>
              <a:srgbClr val="D9E1F2"/>
            </a:solidFill>
            <a:prstDash val="solid"/>
          </a:ln>
        </p:spPr>
      </p:sp>
      <p:sp>
        <p:nvSpPr>
          <p:cNvPr id="41" name="Text 39"/>
          <p:cNvSpPr/>
          <p:nvPr/>
        </p:nvSpPr>
        <p:spPr>
          <a:xfrm>
            <a:off x="7010400" y="4192271"/>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High</a:t>
            </a:r>
            <a:endParaRPr lang="en-US" sz="1300" dirty="0"/>
          </a:p>
        </p:txBody>
      </p:sp>
      <p:sp>
        <p:nvSpPr>
          <p:cNvPr id="42" name="Text 40"/>
          <p:cNvSpPr/>
          <p:nvPr/>
        </p:nvSpPr>
        <p:spPr>
          <a:xfrm>
            <a:off x="7010400" y="4424046"/>
            <a:ext cx="204390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Flash-Lite + verifier</a:t>
            </a:r>
            <a:endParaRPr lang="en-US" sz="1200" dirty="0"/>
          </a:p>
        </p:txBody>
      </p:sp>
      <p:sp>
        <p:nvSpPr>
          <p:cNvPr id="43" name="Shape 41"/>
          <p:cNvSpPr/>
          <p:nvPr/>
        </p:nvSpPr>
        <p:spPr>
          <a:xfrm>
            <a:off x="9182100" y="4100196"/>
            <a:ext cx="2193925" cy="614045"/>
          </a:xfrm>
          <a:prstGeom prst="roundRect">
            <a:avLst>
              <a:gd name="adj" fmla="val 13961"/>
            </a:avLst>
          </a:prstGeom>
          <a:solidFill>
            <a:srgbClr val="FFFFFF"/>
          </a:solidFill>
          <a:ln w="6350">
            <a:solidFill>
              <a:srgbClr val="D9E1F2"/>
            </a:solidFill>
            <a:prstDash val="solid"/>
          </a:ln>
        </p:spPr>
      </p:sp>
      <p:sp>
        <p:nvSpPr>
          <p:cNvPr id="44" name="Text 42"/>
          <p:cNvSpPr/>
          <p:nvPr/>
        </p:nvSpPr>
        <p:spPr>
          <a:xfrm>
            <a:off x="9286875" y="4192271"/>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Critical</a:t>
            </a:r>
            <a:endParaRPr lang="en-US" sz="1300" dirty="0"/>
          </a:p>
        </p:txBody>
      </p:sp>
      <p:sp>
        <p:nvSpPr>
          <p:cNvPr id="45" name="Text 43"/>
          <p:cNvSpPr/>
          <p:nvPr/>
        </p:nvSpPr>
        <p:spPr>
          <a:xfrm>
            <a:off x="9286875" y="4424046"/>
            <a:ext cx="204390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held for a doctor</a:t>
            </a:r>
            <a:endParaRPr lang="en-US" sz="1200" dirty="0"/>
          </a:p>
        </p:txBody>
      </p:sp>
      <p:sp>
        <p:nvSpPr>
          <p:cNvPr id="46" name="Text 44"/>
          <p:cNvSpPr/>
          <p:nvPr/>
        </p:nvSpPr>
        <p:spPr>
          <a:xfrm>
            <a:off x="812800" y="5163502"/>
            <a:ext cx="1197991"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B3560A"/>
                </a:solidFill>
                <a:latin typeface="DM Sans" pitchFamily="34" charset="0"/>
                <a:ea typeface="DM Sans" pitchFamily="34" charset="-122"/>
                <a:cs typeface="DM Sans" pitchFamily="34" charset="-120"/>
              </a:rPr>
              <a:t>4 · RELEASE</a:t>
            </a:r>
            <a:endParaRPr lang="en-US" sz="1300" dirty="0"/>
          </a:p>
        </p:txBody>
      </p:sp>
      <p:sp>
        <p:nvSpPr>
          <p:cNvPr id="47" name="Shape 45"/>
          <p:cNvSpPr/>
          <p:nvPr/>
        </p:nvSpPr>
        <p:spPr>
          <a:xfrm>
            <a:off x="2352675" y="4872989"/>
            <a:ext cx="2193925" cy="812165"/>
          </a:xfrm>
          <a:prstGeom prst="roundRect">
            <a:avLst>
              <a:gd name="adj" fmla="val 10555"/>
            </a:avLst>
          </a:prstGeom>
          <a:solidFill>
            <a:srgbClr val="FFFFFF"/>
          </a:solidFill>
          <a:ln w="6350">
            <a:solidFill>
              <a:srgbClr val="D9E1F2"/>
            </a:solidFill>
            <a:prstDash val="solid"/>
          </a:ln>
        </p:spPr>
      </p:sp>
      <p:sp>
        <p:nvSpPr>
          <p:cNvPr id="48" name="Text 46"/>
          <p:cNvSpPr/>
          <p:nvPr/>
        </p:nvSpPr>
        <p:spPr>
          <a:xfrm>
            <a:off x="2457450" y="4965064"/>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Verifier gate</a:t>
            </a:r>
            <a:endParaRPr lang="en-US" sz="1300" dirty="0"/>
          </a:p>
        </p:txBody>
      </p:sp>
      <p:sp>
        <p:nvSpPr>
          <p:cNvPr id="49" name="Text 47"/>
          <p:cNvSpPr/>
          <p:nvPr/>
        </p:nvSpPr>
        <p:spPr>
          <a:xfrm>
            <a:off x="2457450" y="5196839"/>
            <a:ext cx="2043906"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approve, or send to a doctor</a:t>
            </a:r>
            <a:endParaRPr lang="en-US" sz="1200" dirty="0"/>
          </a:p>
        </p:txBody>
      </p:sp>
      <p:sp>
        <p:nvSpPr>
          <p:cNvPr id="50" name="Shape 48"/>
          <p:cNvSpPr/>
          <p:nvPr/>
        </p:nvSpPr>
        <p:spPr>
          <a:xfrm>
            <a:off x="4629150" y="4872989"/>
            <a:ext cx="2193925" cy="812165"/>
          </a:xfrm>
          <a:prstGeom prst="roundRect">
            <a:avLst>
              <a:gd name="adj" fmla="val 10555"/>
            </a:avLst>
          </a:prstGeom>
          <a:solidFill>
            <a:srgbClr val="FFFFFF"/>
          </a:solidFill>
          <a:ln w="6350">
            <a:solidFill>
              <a:srgbClr val="D9E1F2"/>
            </a:solidFill>
            <a:prstDash val="solid"/>
          </a:ln>
        </p:spPr>
      </p:sp>
      <p:sp>
        <p:nvSpPr>
          <p:cNvPr id="51" name="Text 49"/>
          <p:cNvSpPr/>
          <p:nvPr/>
        </p:nvSpPr>
        <p:spPr>
          <a:xfrm>
            <a:off x="4733925" y="4965064"/>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Doctor approval</a:t>
            </a:r>
            <a:endParaRPr lang="en-US" sz="1300" dirty="0"/>
          </a:p>
        </p:txBody>
      </p:sp>
      <p:sp>
        <p:nvSpPr>
          <p:cNvPr id="52" name="Text 50"/>
          <p:cNvSpPr/>
          <p:nvPr/>
        </p:nvSpPr>
        <p:spPr>
          <a:xfrm>
            <a:off x="4733925" y="5196839"/>
            <a:ext cx="204390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email, approve or block</a:t>
            </a:r>
            <a:endParaRPr lang="en-US" sz="1200" dirty="0"/>
          </a:p>
        </p:txBody>
      </p:sp>
      <p:sp>
        <p:nvSpPr>
          <p:cNvPr id="53" name="Shape 51"/>
          <p:cNvSpPr/>
          <p:nvPr/>
        </p:nvSpPr>
        <p:spPr>
          <a:xfrm>
            <a:off x="6905625" y="4872989"/>
            <a:ext cx="2193925" cy="812165"/>
          </a:xfrm>
          <a:prstGeom prst="roundRect">
            <a:avLst>
              <a:gd name="adj" fmla="val 10555"/>
            </a:avLst>
          </a:prstGeom>
          <a:solidFill>
            <a:srgbClr val="FFFFFF"/>
          </a:solidFill>
          <a:ln w="6350">
            <a:solidFill>
              <a:srgbClr val="D9E1F2"/>
            </a:solidFill>
            <a:prstDash val="solid"/>
          </a:ln>
        </p:spPr>
      </p:sp>
      <p:sp>
        <p:nvSpPr>
          <p:cNvPr id="54" name="Text 52"/>
          <p:cNvSpPr/>
          <p:nvPr/>
        </p:nvSpPr>
        <p:spPr>
          <a:xfrm>
            <a:off x="7010400" y="4965064"/>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Telegram release</a:t>
            </a:r>
            <a:endParaRPr lang="en-US" sz="1300" dirty="0"/>
          </a:p>
        </p:txBody>
      </p:sp>
      <p:sp>
        <p:nvSpPr>
          <p:cNvPr id="55" name="Text 53"/>
          <p:cNvSpPr/>
          <p:nvPr/>
        </p:nvSpPr>
        <p:spPr>
          <a:xfrm>
            <a:off x="7010400" y="5196839"/>
            <a:ext cx="204390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only after approval</a:t>
            </a:r>
            <a:endParaRPr lang="en-US" sz="1200" dirty="0"/>
          </a:p>
        </p:txBody>
      </p:sp>
      <p:sp>
        <p:nvSpPr>
          <p:cNvPr id="56" name="Shape 54"/>
          <p:cNvSpPr/>
          <p:nvPr/>
        </p:nvSpPr>
        <p:spPr>
          <a:xfrm>
            <a:off x="9182100" y="4872989"/>
            <a:ext cx="2193925" cy="812165"/>
          </a:xfrm>
          <a:prstGeom prst="roundRect">
            <a:avLst>
              <a:gd name="adj" fmla="val 10555"/>
            </a:avLst>
          </a:prstGeom>
          <a:solidFill>
            <a:srgbClr val="FFFFFF"/>
          </a:solidFill>
          <a:ln w="6350">
            <a:solidFill>
              <a:srgbClr val="D9E1F2"/>
            </a:solidFill>
            <a:prstDash val="solid"/>
          </a:ln>
        </p:spPr>
      </p:sp>
      <p:sp>
        <p:nvSpPr>
          <p:cNvPr id="57" name="Text 55"/>
          <p:cNvSpPr/>
          <p:nvPr/>
        </p:nvSpPr>
        <p:spPr>
          <a:xfrm>
            <a:off x="9286875" y="4965064"/>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Audit log</a:t>
            </a:r>
            <a:endParaRPr lang="en-US" sz="1300" dirty="0"/>
          </a:p>
        </p:txBody>
      </p:sp>
      <p:sp>
        <p:nvSpPr>
          <p:cNvPr id="58" name="Text 56"/>
          <p:cNvSpPr/>
          <p:nvPr/>
        </p:nvSpPr>
        <p:spPr>
          <a:xfrm>
            <a:off x="9286875" y="5196839"/>
            <a:ext cx="204390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IDs and flags, no text</a:t>
            </a:r>
            <a:endParaRPr lang="en-US" sz="1200" dirty="0"/>
          </a:p>
        </p:txBody>
      </p:sp>
      <p:sp>
        <p:nvSpPr>
          <p:cNvPr id="59" name="Text 57"/>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8A"/>
                </a:solidFill>
                <a:latin typeface="DM Sans" pitchFamily="34" charset="0"/>
                <a:ea typeface="DM Sans" pitchFamily="34" charset="-122"/>
                <a:cs typeface="DM Sans" pitchFamily="34" charset="-120"/>
              </a:rPr>
              <a:t>ToxWatch · DEPI Track IND3-G2 · synthetic data only</a:t>
            </a:r>
            <a:endParaRPr lang="en-US" sz="1200" dirty="0"/>
          </a:p>
        </p:txBody>
      </p:sp>
      <p:sp>
        <p:nvSpPr>
          <p:cNvPr id="60" name="Text 58"/>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18A"/>
                </a:solidFill>
                <a:latin typeface="DM Sans" pitchFamily="34" charset="0"/>
                <a:ea typeface="DM Sans" pitchFamily="34" charset="-122"/>
                <a:cs typeface="DM Sans" pitchFamily="34" charset="-120"/>
              </a:rPr>
              <a:t>7 /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6A3FC8"/>
                </a:solidFill>
                <a:latin typeface="DM Sans" pitchFamily="34" charset="0"/>
                <a:ea typeface="DM Sans" pitchFamily="34" charset="-122"/>
                <a:cs typeface="DM Sans" pitchFamily="34" charset="-120"/>
              </a:rPr>
              <a:t>WORKFLOW 3 · CASE ANALYZER  +  WORKFLOW 4 · INGESTION</a:t>
            </a:r>
            <a:endParaRPr lang="en-US" sz="1300" dirty="0"/>
          </a:p>
        </p:txBody>
      </p:sp>
      <p:sp>
        <p:nvSpPr>
          <p:cNvPr id="3" name="Text 1"/>
          <p:cNvSpPr/>
          <p:nvPr>
            <p:ph type="title"/>
          </p:nvPr>
        </p:nvSpPr>
        <p:spPr>
          <a:xfrm>
            <a:off x="812800" y="1120139"/>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21F54"/>
                </a:solidFill>
                <a:latin typeface="DM Sans" pitchFamily="34" charset="0"/>
                <a:ea typeface="DM Sans" pitchFamily="34" charset="-122"/>
                <a:cs typeface="DM Sans" pitchFamily="34" charset="-120"/>
              </a:rPr>
              <a:t>Answers come from the pharmacy's own documents</a:t>
            </a:r>
            <a:endParaRPr lang="en-US" sz="3000" dirty="0"/>
          </a:p>
        </p:txBody>
      </p:sp>
      <p:sp>
        <p:nvSpPr>
          <p:cNvPr id="4" name="Shape 2"/>
          <p:cNvSpPr/>
          <p:nvPr/>
        </p:nvSpPr>
        <p:spPr>
          <a:xfrm>
            <a:off x="815975" y="1682114"/>
            <a:ext cx="5226050" cy="890270"/>
          </a:xfrm>
          <a:prstGeom prst="roundRect">
            <a:avLst>
              <a:gd name="adj" fmla="val 12482"/>
            </a:avLst>
          </a:prstGeom>
          <a:solidFill>
            <a:srgbClr val="FFFFFF"/>
          </a:solidFill>
          <a:ln w="6350">
            <a:solidFill>
              <a:srgbClr val="D9E1F2"/>
            </a:solidFill>
            <a:prstDash val="solid"/>
          </a:ln>
        </p:spPr>
      </p:sp>
      <p:sp>
        <p:nvSpPr>
          <p:cNvPr id="5" name="Text 3"/>
          <p:cNvSpPr/>
          <p:nvPr/>
        </p:nvSpPr>
        <p:spPr>
          <a:xfrm>
            <a:off x="971550" y="1786889"/>
            <a:ext cx="506234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A3FC8"/>
                </a:solidFill>
                <a:latin typeface="DM Sans" pitchFamily="34" charset="0"/>
                <a:ea typeface="DM Sans" pitchFamily="34" charset="-122"/>
                <a:cs typeface="DM Sans" pitchFamily="34" charset="-120"/>
              </a:rPr>
              <a:t>W3 TRIGGER</a:t>
            </a:r>
            <a:endParaRPr lang="en-US" sz="1200" dirty="0"/>
          </a:p>
        </p:txBody>
      </p:sp>
      <p:sp>
        <p:nvSpPr>
          <p:cNvPr id="6" name="Text 4"/>
          <p:cNvSpPr/>
          <p:nvPr/>
        </p:nvSpPr>
        <p:spPr>
          <a:xfrm>
            <a:off x="971550" y="2038350"/>
            <a:ext cx="5062347"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1F54"/>
                </a:solidFill>
                <a:latin typeface="DM Sans" pitchFamily="34" charset="0"/>
                <a:ea typeface="DM Sans" pitchFamily="34" charset="-122"/>
                <a:cs typeface="DM Sans" pitchFamily="34" charset="-120"/>
              </a:rPr>
              <a:t>called by the Advisor, with text and session id</a:t>
            </a:r>
            <a:endParaRPr lang="en-US" sz="1300" dirty="0"/>
          </a:p>
        </p:txBody>
      </p:sp>
      <p:sp>
        <p:nvSpPr>
          <p:cNvPr id="7" name="Shape 5"/>
          <p:cNvSpPr/>
          <p:nvPr/>
        </p:nvSpPr>
        <p:spPr>
          <a:xfrm>
            <a:off x="6149975" y="1682114"/>
            <a:ext cx="5226050" cy="890270"/>
          </a:xfrm>
          <a:prstGeom prst="roundRect">
            <a:avLst>
              <a:gd name="adj" fmla="val 12482"/>
            </a:avLst>
          </a:prstGeom>
          <a:solidFill>
            <a:srgbClr val="FFFFFF"/>
          </a:solidFill>
          <a:ln w="6350">
            <a:solidFill>
              <a:srgbClr val="D9E1F2"/>
            </a:solidFill>
            <a:prstDash val="solid"/>
          </a:ln>
        </p:spPr>
      </p:sp>
      <p:sp>
        <p:nvSpPr>
          <p:cNvPr id="8" name="Text 6"/>
          <p:cNvSpPr/>
          <p:nvPr/>
        </p:nvSpPr>
        <p:spPr>
          <a:xfrm>
            <a:off x="6305550" y="1786889"/>
            <a:ext cx="506234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6A3FC8"/>
                </a:solidFill>
                <a:latin typeface="DM Sans" pitchFamily="34" charset="0"/>
                <a:ea typeface="DM Sans" pitchFamily="34" charset="-122"/>
                <a:cs typeface="DM Sans" pitchFamily="34" charset="-120"/>
              </a:rPr>
              <a:t>W4 TRIGGER</a:t>
            </a:r>
            <a:endParaRPr lang="en-US" sz="1200" dirty="0"/>
          </a:p>
        </p:txBody>
      </p:sp>
      <p:sp>
        <p:nvSpPr>
          <p:cNvPr id="9" name="Text 7"/>
          <p:cNvSpPr/>
          <p:nvPr/>
        </p:nvSpPr>
        <p:spPr>
          <a:xfrm>
            <a:off x="6305550" y="2038350"/>
            <a:ext cx="5062347"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1F54"/>
                </a:solidFill>
                <a:latin typeface="DM Sans" pitchFamily="34" charset="0"/>
                <a:ea typeface="DM Sans" pitchFamily="34" charset="-122"/>
                <a:cs typeface="DM Sans" pitchFamily="34" charset="-120"/>
              </a:rPr>
              <a:t>new file in the "Medical Pharm" Drive folder, checked every minute</a:t>
            </a:r>
            <a:endParaRPr lang="en-US" sz="1300" dirty="0"/>
          </a:p>
        </p:txBody>
      </p:sp>
      <p:sp>
        <p:nvSpPr>
          <p:cNvPr id="10" name="Text 8"/>
          <p:cNvSpPr/>
          <p:nvPr/>
        </p:nvSpPr>
        <p:spPr>
          <a:xfrm>
            <a:off x="812800" y="3008948"/>
            <a:ext cx="1424305"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6A3FC8"/>
                </a:solidFill>
                <a:latin typeface="DM Sans" pitchFamily="34" charset="0"/>
                <a:ea typeface="DM Sans" pitchFamily="34" charset="-122"/>
                <a:cs typeface="DM Sans" pitchFamily="34" charset="-120"/>
              </a:rPr>
              <a:t>W3 · ANALYZE</a:t>
            </a:r>
            <a:endParaRPr lang="en-US" sz="1300" dirty="0"/>
          </a:p>
        </p:txBody>
      </p:sp>
      <p:sp>
        <p:nvSpPr>
          <p:cNvPr id="11" name="Shape 9"/>
          <p:cNvSpPr/>
          <p:nvPr/>
        </p:nvSpPr>
        <p:spPr>
          <a:xfrm>
            <a:off x="2352675" y="2718436"/>
            <a:ext cx="2193925" cy="812165"/>
          </a:xfrm>
          <a:prstGeom prst="roundRect">
            <a:avLst>
              <a:gd name="adj" fmla="val 10555"/>
            </a:avLst>
          </a:prstGeom>
          <a:solidFill>
            <a:srgbClr val="FFFFFF"/>
          </a:solidFill>
          <a:ln w="6350">
            <a:solidFill>
              <a:srgbClr val="D9E1F2"/>
            </a:solidFill>
            <a:prstDash val="solid"/>
          </a:ln>
        </p:spPr>
      </p:sp>
      <p:sp>
        <p:nvSpPr>
          <p:cNvPr id="12" name="Text 10"/>
          <p:cNvSpPr/>
          <p:nvPr/>
        </p:nvSpPr>
        <p:spPr>
          <a:xfrm>
            <a:off x="2457450" y="2810511"/>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Case Analyzer agent</a:t>
            </a:r>
            <a:endParaRPr lang="en-US" sz="1300" dirty="0"/>
          </a:p>
        </p:txBody>
      </p:sp>
      <p:sp>
        <p:nvSpPr>
          <p:cNvPr id="13" name="Text 11"/>
          <p:cNvSpPr/>
          <p:nvPr/>
        </p:nvSpPr>
        <p:spPr>
          <a:xfrm>
            <a:off x="2457450" y="3042286"/>
            <a:ext cx="204390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remembers the session</a:t>
            </a:r>
            <a:endParaRPr lang="en-US" sz="1200" dirty="0"/>
          </a:p>
        </p:txBody>
      </p:sp>
      <p:sp>
        <p:nvSpPr>
          <p:cNvPr id="14" name="Shape 12"/>
          <p:cNvSpPr/>
          <p:nvPr/>
        </p:nvSpPr>
        <p:spPr>
          <a:xfrm>
            <a:off x="4629150" y="2718436"/>
            <a:ext cx="2193925" cy="812165"/>
          </a:xfrm>
          <a:prstGeom prst="roundRect">
            <a:avLst>
              <a:gd name="adj" fmla="val 10555"/>
            </a:avLst>
          </a:prstGeom>
          <a:solidFill>
            <a:srgbClr val="FFFFFF"/>
          </a:solidFill>
          <a:ln w="6350">
            <a:solidFill>
              <a:srgbClr val="D9E1F2"/>
            </a:solidFill>
            <a:prstDash val="solid"/>
          </a:ln>
        </p:spPr>
      </p:sp>
      <p:sp>
        <p:nvSpPr>
          <p:cNvPr id="15" name="Text 13"/>
          <p:cNvSpPr/>
          <p:nvPr/>
        </p:nvSpPr>
        <p:spPr>
          <a:xfrm>
            <a:off x="4733925" y="2810511"/>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Dose Calculator</a:t>
            </a:r>
            <a:endParaRPr lang="en-US" sz="1300" dirty="0"/>
          </a:p>
        </p:txBody>
      </p:sp>
      <p:sp>
        <p:nvSpPr>
          <p:cNvPr id="16" name="Text 14"/>
          <p:cNvSpPr/>
          <p:nvPr/>
        </p:nvSpPr>
        <p:spPr>
          <a:xfrm>
            <a:off x="4733925" y="3042286"/>
            <a:ext cx="2043906" cy="42164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paracetamol: mg, mg/kg, hours</a:t>
            </a:r>
            <a:endParaRPr lang="en-US" sz="1200" dirty="0"/>
          </a:p>
        </p:txBody>
      </p:sp>
      <p:sp>
        <p:nvSpPr>
          <p:cNvPr id="17" name="Shape 15"/>
          <p:cNvSpPr/>
          <p:nvPr/>
        </p:nvSpPr>
        <p:spPr>
          <a:xfrm>
            <a:off x="6905625" y="2718436"/>
            <a:ext cx="2193925" cy="812165"/>
          </a:xfrm>
          <a:prstGeom prst="roundRect">
            <a:avLst>
              <a:gd name="adj" fmla="val 10555"/>
            </a:avLst>
          </a:prstGeom>
          <a:solidFill>
            <a:srgbClr val="FFFFFF"/>
          </a:solidFill>
          <a:ln w="6350">
            <a:solidFill>
              <a:srgbClr val="D9E1F2"/>
            </a:solidFill>
            <a:prstDash val="solid"/>
          </a:ln>
        </p:spPr>
      </p:sp>
      <p:sp>
        <p:nvSpPr>
          <p:cNvPr id="18" name="Text 16"/>
          <p:cNvSpPr/>
          <p:nvPr/>
        </p:nvSpPr>
        <p:spPr>
          <a:xfrm>
            <a:off x="7010400" y="2810511"/>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Reference search</a:t>
            </a:r>
            <a:endParaRPr lang="en-US" sz="1300" dirty="0"/>
          </a:p>
        </p:txBody>
      </p:sp>
      <p:sp>
        <p:nvSpPr>
          <p:cNvPr id="19" name="Text 17"/>
          <p:cNvSpPr/>
          <p:nvPr/>
        </p:nvSpPr>
        <p:spPr>
          <a:xfrm>
            <a:off x="7010400" y="3042286"/>
            <a:ext cx="204390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called at least twice</a:t>
            </a:r>
            <a:endParaRPr lang="en-US" sz="1200" dirty="0"/>
          </a:p>
        </p:txBody>
      </p:sp>
      <p:sp>
        <p:nvSpPr>
          <p:cNvPr id="20" name="Shape 18"/>
          <p:cNvSpPr/>
          <p:nvPr/>
        </p:nvSpPr>
        <p:spPr>
          <a:xfrm>
            <a:off x="9182100" y="2718436"/>
            <a:ext cx="2193925" cy="812165"/>
          </a:xfrm>
          <a:prstGeom prst="roundRect">
            <a:avLst>
              <a:gd name="adj" fmla="val 10555"/>
            </a:avLst>
          </a:prstGeom>
          <a:solidFill>
            <a:srgbClr val="FFFFFF"/>
          </a:solidFill>
          <a:ln w="6350">
            <a:solidFill>
              <a:srgbClr val="D9E1F2"/>
            </a:solidFill>
            <a:prstDash val="solid"/>
          </a:ln>
        </p:spPr>
      </p:sp>
      <p:sp>
        <p:nvSpPr>
          <p:cNvPr id="21" name="Text 19"/>
          <p:cNvSpPr/>
          <p:nvPr/>
        </p:nvSpPr>
        <p:spPr>
          <a:xfrm>
            <a:off x="9286875" y="2810511"/>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Cohere rerank</a:t>
            </a:r>
            <a:endParaRPr lang="en-US" sz="1300" dirty="0"/>
          </a:p>
        </p:txBody>
      </p:sp>
      <p:sp>
        <p:nvSpPr>
          <p:cNvPr id="22" name="Text 20"/>
          <p:cNvSpPr/>
          <p:nvPr/>
        </p:nvSpPr>
        <p:spPr>
          <a:xfrm>
            <a:off x="9286875" y="3042286"/>
            <a:ext cx="204390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best 3 passages, cited</a:t>
            </a:r>
            <a:endParaRPr lang="en-US" sz="1200" dirty="0"/>
          </a:p>
        </p:txBody>
      </p:sp>
      <p:sp>
        <p:nvSpPr>
          <p:cNvPr id="23" name="Text 21"/>
          <p:cNvSpPr/>
          <p:nvPr/>
        </p:nvSpPr>
        <p:spPr>
          <a:xfrm>
            <a:off x="812800" y="3868102"/>
            <a:ext cx="1252347"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087A92"/>
                </a:solidFill>
                <a:latin typeface="DM Sans" pitchFamily="34" charset="0"/>
                <a:ea typeface="DM Sans" pitchFamily="34" charset="-122"/>
                <a:cs typeface="DM Sans" pitchFamily="34" charset="-120"/>
              </a:rPr>
              <a:t>W4 · INGEST</a:t>
            </a:r>
            <a:endParaRPr lang="en-US" sz="1300" dirty="0"/>
          </a:p>
        </p:txBody>
      </p:sp>
      <p:sp>
        <p:nvSpPr>
          <p:cNvPr id="24" name="Shape 22"/>
          <p:cNvSpPr/>
          <p:nvPr/>
        </p:nvSpPr>
        <p:spPr>
          <a:xfrm>
            <a:off x="2352675" y="3676650"/>
            <a:ext cx="2193925" cy="614045"/>
          </a:xfrm>
          <a:prstGeom prst="roundRect">
            <a:avLst>
              <a:gd name="adj" fmla="val 13961"/>
            </a:avLst>
          </a:prstGeom>
          <a:solidFill>
            <a:srgbClr val="FFFFFF"/>
          </a:solidFill>
          <a:ln w="6350">
            <a:solidFill>
              <a:srgbClr val="D9E1F2"/>
            </a:solidFill>
            <a:prstDash val="solid"/>
          </a:ln>
        </p:spPr>
      </p:sp>
      <p:sp>
        <p:nvSpPr>
          <p:cNvPr id="25" name="Text 23"/>
          <p:cNvSpPr/>
          <p:nvPr/>
        </p:nvSpPr>
        <p:spPr>
          <a:xfrm>
            <a:off x="2457450" y="3768725"/>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Drive trigger</a:t>
            </a:r>
            <a:endParaRPr lang="en-US" sz="1300" dirty="0"/>
          </a:p>
        </p:txBody>
      </p:sp>
      <p:sp>
        <p:nvSpPr>
          <p:cNvPr id="26" name="Text 24"/>
          <p:cNvSpPr/>
          <p:nvPr/>
        </p:nvSpPr>
        <p:spPr>
          <a:xfrm>
            <a:off x="2457450" y="4000500"/>
            <a:ext cx="204390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or manual re-ingest</a:t>
            </a:r>
            <a:endParaRPr lang="en-US" sz="1200" dirty="0"/>
          </a:p>
        </p:txBody>
      </p:sp>
      <p:sp>
        <p:nvSpPr>
          <p:cNvPr id="27" name="Shape 25"/>
          <p:cNvSpPr/>
          <p:nvPr/>
        </p:nvSpPr>
        <p:spPr>
          <a:xfrm>
            <a:off x="4629150" y="3676650"/>
            <a:ext cx="2193925" cy="614045"/>
          </a:xfrm>
          <a:prstGeom prst="roundRect">
            <a:avLst>
              <a:gd name="adj" fmla="val 13961"/>
            </a:avLst>
          </a:prstGeom>
          <a:solidFill>
            <a:srgbClr val="FFFFFF"/>
          </a:solidFill>
          <a:ln w="6350">
            <a:solidFill>
              <a:srgbClr val="D9E1F2"/>
            </a:solidFill>
            <a:prstDash val="solid"/>
          </a:ln>
        </p:spPr>
      </p:sp>
      <p:sp>
        <p:nvSpPr>
          <p:cNvPr id="28" name="Text 26"/>
          <p:cNvSpPr/>
          <p:nvPr/>
        </p:nvSpPr>
        <p:spPr>
          <a:xfrm>
            <a:off x="4733925" y="3768725"/>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Extract PDF text</a:t>
            </a:r>
            <a:endParaRPr lang="en-US" sz="1300" dirty="0"/>
          </a:p>
        </p:txBody>
      </p:sp>
      <p:sp>
        <p:nvSpPr>
          <p:cNvPr id="29" name="Text 27"/>
          <p:cNvSpPr/>
          <p:nvPr/>
        </p:nvSpPr>
        <p:spPr>
          <a:xfrm>
            <a:off x="4733925" y="4000500"/>
            <a:ext cx="204390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unreadable: Telegram alert</a:t>
            </a:r>
            <a:endParaRPr lang="en-US" sz="1200" dirty="0"/>
          </a:p>
        </p:txBody>
      </p:sp>
      <p:sp>
        <p:nvSpPr>
          <p:cNvPr id="30" name="Shape 28"/>
          <p:cNvSpPr/>
          <p:nvPr/>
        </p:nvSpPr>
        <p:spPr>
          <a:xfrm>
            <a:off x="6905625" y="3676650"/>
            <a:ext cx="2193925" cy="614045"/>
          </a:xfrm>
          <a:prstGeom prst="roundRect">
            <a:avLst>
              <a:gd name="adj" fmla="val 13961"/>
            </a:avLst>
          </a:prstGeom>
          <a:solidFill>
            <a:srgbClr val="FFFFFF"/>
          </a:solidFill>
          <a:ln w="6350">
            <a:solidFill>
              <a:srgbClr val="D9E1F2"/>
            </a:solidFill>
            <a:prstDash val="solid"/>
          </a:ln>
        </p:spPr>
      </p:sp>
      <p:sp>
        <p:nvSpPr>
          <p:cNvPr id="31" name="Text 29"/>
          <p:cNvSpPr/>
          <p:nvPr/>
        </p:nvSpPr>
        <p:spPr>
          <a:xfrm>
            <a:off x="7010400" y="3768725"/>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Split into chunks</a:t>
            </a:r>
            <a:endParaRPr lang="en-US" sz="1300" dirty="0"/>
          </a:p>
        </p:txBody>
      </p:sp>
      <p:sp>
        <p:nvSpPr>
          <p:cNvPr id="32" name="Text 30"/>
          <p:cNvSpPr/>
          <p:nvPr/>
        </p:nvSpPr>
        <p:spPr>
          <a:xfrm>
            <a:off x="7010400" y="4000500"/>
            <a:ext cx="204390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200 characters overlap</a:t>
            </a:r>
            <a:endParaRPr lang="en-US" sz="1200" dirty="0"/>
          </a:p>
        </p:txBody>
      </p:sp>
      <p:sp>
        <p:nvSpPr>
          <p:cNvPr id="33" name="Shape 31"/>
          <p:cNvSpPr/>
          <p:nvPr/>
        </p:nvSpPr>
        <p:spPr>
          <a:xfrm>
            <a:off x="9182100" y="3676650"/>
            <a:ext cx="2193925" cy="614045"/>
          </a:xfrm>
          <a:prstGeom prst="roundRect">
            <a:avLst>
              <a:gd name="adj" fmla="val 13961"/>
            </a:avLst>
          </a:prstGeom>
          <a:solidFill>
            <a:srgbClr val="FFFFFF"/>
          </a:solidFill>
          <a:ln w="6350">
            <a:solidFill>
              <a:srgbClr val="D9E1F2"/>
            </a:solidFill>
            <a:prstDash val="solid"/>
          </a:ln>
        </p:spPr>
      </p:sp>
      <p:sp>
        <p:nvSpPr>
          <p:cNvPr id="34" name="Text 32"/>
          <p:cNvSpPr/>
          <p:nvPr/>
        </p:nvSpPr>
        <p:spPr>
          <a:xfrm>
            <a:off x="9286875" y="3768725"/>
            <a:ext cx="204390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Gemini embeddings</a:t>
            </a:r>
            <a:endParaRPr lang="en-US" sz="1300" dirty="0"/>
          </a:p>
        </p:txBody>
      </p:sp>
      <p:sp>
        <p:nvSpPr>
          <p:cNvPr id="35" name="Text 33"/>
          <p:cNvSpPr/>
          <p:nvPr/>
        </p:nvSpPr>
        <p:spPr>
          <a:xfrm>
            <a:off x="9286875" y="4000500"/>
            <a:ext cx="204390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stored in the vector store</a:t>
            </a:r>
            <a:endParaRPr lang="en-US" sz="1200" dirty="0"/>
          </a:p>
        </p:txBody>
      </p:sp>
      <p:sp>
        <p:nvSpPr>
          <p:cNvPr id="36" name="Text 34"/>
          <p:cNvSpPr/>
          <p:nvPr/>
        </p:nvSpPr>
        <p:spPr>
          <a:xfrm>
            <a:off x="812800" y="4433571"/>
            <a:ext cx="10566400" cy="451485"/>
          </a:xfrm>
          <a:prstGeom prst="roundRect">
            <a:avLst>
              <a:gd name="adj" fmla="val 25316"/>
            </a:avLst>
          </a:prstGeom>
          <a:solidFill>
            <a:srgbClr val="ECE6FA"/>
          </a:solidFill>
          <a:ln/>
        </p:spPr>
        <p:txBody>
          <a:bodyPr wrap="square" lIns="144323" tIns="68123" rIns="144323" bIns="68123" rtlCol="0" anchor="ctr">
            <a:normAutofit/>
          </a:bodyPr>
          <a:lstStyle/>
          <a:p>
            <a:pPr algn="l" indent="0" marL="0">
              <a:lnSpc>
                <a:spcPts val="1755"/>
              </a:lnSpc>
              <a:buNone/>
            </a:pPr>
            <a:r>
              <a:rPr lang="en-US" sz="1300" b="1" dirty="0">
                <a:solidFill>
                  <a:srgbClr val="4B2A9A"/>
                </a:solidFill>
                <a:latin typeface="DM Sans" pitchFamily="34" charset="0"/>
                <a:ea typeface="DM Sans" pitchFamily="34" charset="-122"/>
                <a:cs typeface="DM Sans" pitchFamily="34" charset="-120"/>
              </a:rPr>
              <a:t>Link:</a:t>
            </a:r>
            <a:r>
              <a:rPr lang="en-US" sz="1300" dirty="0">
                <a:solidFill>
                  <a:srgbClr val="4B2A9A"/>
                </a:solidFill>
                <a:latin typeface="DM Sans" pitchFamily="34" charset="0"/>
                <a:ea typeface="DM Sans" pitchFamily="34" charset="-122"/>
                <a:cs typeface="DM Sans" pitchFamily="34" charset="-120"/>
              </a:rPr>
              <a:t> each chunk keeps the reference name, uploader and upload date, so every answer can say where it came from.</a:t>
            </a:r>
            <a:endParaRPr lang="en-US" sz="1300" dirty="0"/>
          </a:p>
        </p:txBody>
      </p:sp>
      <p:sp>
        <p:nvSpPr>
          <p:cNvPr id="37" name="Text 35"/>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8A"/>
                </a:solidFill>
                <a:latin typeface="DM Sans" pitchFamily="34" charset="0"/>
                <a:ea typeface="DM Sans" pitchFamily="34" charset="-122"/>
                <a:cs typeface="DM Sans" pitchFamily="34" charset="-120"/>
              </a:rPr>
              <a:t>ToxWatch · DEPI Track IND3-G2 · synthetic data only</a:t>
            </a:r>
            <a:endParaRPr lang="en-US" sz="1200" dirty="0"/>
          </a:p>
        </p:txBody>
      </p:sp>
      <p:sp>
        <p:nvSpPr>
          <p:cNvPr id="38" name="Text 36"/>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18A"/>
                </a:solidFill>
                <a:latin typeface="DM Sans" pitchFamily="34" charset="0"/>
                <a:ea typeface="DM Sans" pitchFamily="34" charset="-122"/>
                <a:cs typeface="DM Sans" pitchFamily="34" charset="-120"/>
              </a:rPr>
              <a:t>8 /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157A4C"/>
                </a:solidFill>
                <a:latin typeface="DM Sans" pitchFamily="34" charset="0"/>
                <a:ea typeface="DM Sans" pitchFamily="34" charset="-122"/>
                <a:cs typeface="DM Sans" pitchFamily="34" charset="-120"/>
              </a:rPr>
              <a:t>WORKFLOW 5 · MONITORING AND JUDGE</a:t>
            </a:r>
            <a:endParaRPr lang="en-US" sz="1300" dirty="0"/>
          </a:p>
        </p:txBody>
      </p:sp>
      <p:sp>
        <p:nvSpPr>
          <p:cNvPr id="3" name="Text 1"/>
          <p:cNvSpPr/>
          <p:nvPr>
            <p:ph type="title"/>
          </p:nvPr>
        </p:nvSpPr>
        <p:spPr>
          <a:xfrm>
            <a:off x="812800" y="1120142"/>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dirty="0">
                <a:solidFill>
                  <a:srgbClr val="121F54"/>
                </a:solidFill>
                <a:latin typeface="DM Sans" pitchFamily="34" charset="0"/>
                <a:ea typeface="DM Sans" pitchFamily="34" charset="-122"/>
                <a:cs typeface="DM Sans" pitchFamily="34" charset="-120"/>
              </a:rPr>
              <a:t>Who watches the AI?</a:t>
            </a:r>
            <a:endParaRPr lang="en-US" sz="3000" dirty="0"/>
          </a:p>
        </p:txBody>
      </p:sp>
      <p:sp>
        <p:nvSpPr>
          <p:cNvPr id="4" name="Shape 2"/>
          <p:cNvSpPr/>
          <p:nvPr/>
        </p:nvSpPr>
        <p:spPr>
          <a:xfrm>
            <a:off x="815975" y="1694817"/>
            <a:ext cx="3448050" cy="701040"/>
          </a:xfrm>
          <a:prstGeom prst="roundRect">
            <a:avLst>
              <a:gd name="adj" fmla="val 15851"/>
            </a:avLst>
          </a:prstGeom>
          <a:solidFill>
            <a:srgbClr val="FFFFFF"/>
          </a:solidFill>
          <a:ln w="6350">
            <a:solidFill>
              <a:srgbClr val="D9E1F2"/>
            </a:solidFill>
            <a:prstDash val="solid"/>
          </a:ln>
        </p:spPr>
      </p:sp>
      <p:sp>
        <p:nvSpPr>
          <p:cNvPr id="5" name="Text 3"/>
          <p:cNvSpPr/>
          <p:nvPr/>
        </p:nvSpPr>
        <p:spPr>
          <a:xfrm>
            <a:off x="971550" y="1812292"/>
            <a:ext cx="32310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4C"/>
                </a:solidFill>
                <a:latin typeface="DM Sans" pitchFamily="34" charset="0"/>
                <a:ea typeface="DM Sans" pitchFamily="34" charset="-122"/>
                <a:cs typeface="DM Sans" pitchFamily="34" charset="-120"/>
              </a:rPr>
              <a:t>TRIGGER</a:t>
            </a:r>
            <a:endParaRPr lang="en-US" sz="1200" dirty="0"/>
          </a:p>
        </p:txBody>
      </p:sp>
      <p:sp>
        <p:nvSpPr>
          <p:cNvPr id="6" name="Text 4"/>
          <p:cNvSpPr/>
          <p:nvPr/>
        </p:nvSpPr>
        <p:spPr>
          <a:xfrm>
            <a:off x="971550" y="2063750"/>
            <a:ext cx="3231007"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1F54"/>
                </a:solidFill>
                <a:latin typeface="DM Sans" pitchFamily="34" charset="0"/>
                <a:ea typeface="DM Sans" pitchFamily="34" charset="-122"/>
                <a:cs typeface="DM Sans" pitchFamily="34" charset="-120"/>
              </a:rPr>
              <a:t>schedule, every 15 minutes</a:t>
            </a:r>
            <a:endParaRPr lang="en-US" sz="1300" dirty="0"/>
          </a:p>
        </p:txBody>
      </p:sp>
      <p:sp>
        <p:nvSpPr>
          <p:cNvPr id="7" name="Shape 5"/>
          <p:cNvSpPr/>
          <p:nvPr/>
        </p:nvSpPr>
        <p:spPr>
          <a:xfrm>
            <a:off x="4371975" y="1694817"/>
            <a:ext cx="3448050" cy="701040"/>
          </a:xfrm>
          <a:prstGeom prst="roundRect">
            <a:avLst>
              <a:gd name="adj" fmla="val 15851"/>
            </a:avLst>
          </a:prstGeom>
          <a:solidFill>
            <a:srgbClr val="FFFFFF"/>
          </a:solidFill>
          <a:ln w="6350">
            <a:solidFill>
              <a:srgbClr val="D9E1F2"/>
            </a:solidFill>
            <a:prstDash val="solid"/>
          </a:ln>
        </p:spPr>
      </p:sp>
      <p:sp>
        <p:nvSpPr>
          <p:cNvPr id="8" name="Text 6"/>
          <p:cNvSpPr/>
          <p:nvPr/>
        </p:nvSpPr>
        <p:spPr>
          <a:xfrm>
            <a:off x="4527550" y="1812292"/>
            <a:ext cx="32310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4C"/>
                </a:solidFill>
                <a:latin typeface="DM Sans" pitchFamily="34" charset="0"/>
                <a:ea typeface="DM Sans" pitchFamily="34" charset="-122"/>
                <a:cs typeface="DM Sans" pitchFamily="34" charset="-120"/>
              </a:rPr>
              <a:t>INPUT</a:t>
            </a:r>
            <a:endParaRPr lang="en-US" sz="1200" dirty="0"/>
          </a:p>
        </p:txBody>
      </p:sp>
      <p:sp>
        <p:nvSpPr>
          <p:cNvPr id="9" name="Text 7"/>
          <p:cNvSpPr/>
          <p:nvPr/>
        </p:nvSpPr>
        <p:spPr>
          <a:xfrm>
            <a:off x="4527550" y="2063750"/>
            <a:ext cx="3231007"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1F54"/>
                </a:solidFill>
                <a:latin typeface="DM Sans" pitchFamily="34" charset="0"/>
                <a:ea typeface="DM Sans" pitchFamily="34" charset="-122"/>
                <a:cs typeface="DM Sans" pitchFamily="34" charset="-120"/>
              </a:rPr>
              <a:t>recent runs from LangSmith</a:t>
            </a:r>
            <a:endParaRPr lang="en-US" sz="1300" dirty="0"/>
          </a:p>
        </p:txBody>
      </p:sp>
      <p:sp>
        <p:nvSpPr>
          <p:cNvPr id="10" name="Shape 8"/>
          <p:cNvSpPr/>
          <p:nvPr/>
        </p:nvSpPr>
        <p:spPr>
          <a:xfrm>
            <a:off x="7927975" y="1694817"/>
            <a:ext cx="3448050" cy="701040"/>
          </a:xfrm>
          <a:prstGeom prst="roundRect">
            <a:avLst>
              <a:gd name="adj" fmla="val 15851"/>
            </a:avLst>
          </a:prstGeom>
          <a:solidFill>
            <a:srgbClr val="FFFFFF"/>
          </a:solidFill>
          <a:ln w="6350">
            <a:solidFill>
              <a:srgbClr val="D9E1F2"/>
            </a:solidFill>
            <a:prstDash val="solid"/>
          </a:ln>
        </p:spPr>
      </p:sp>
      <p:sp>
        <p:nvSpPr>
          <p:cNvPr id="11" name="Text 9"/>
          <p:cNvSpPr/>
          <p:nvPr/>
        </p:nvSpPr>
        <p:spPr>
          <a:xfrm>
            <a:off x="8083550" y="1812292"/>
            <a:ext cx="323100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57A4C"/>
                </a:solidFill>
                <a:latin typeface="DM Sans" pitchFamily="34" charset="0"/>
                <a:ea typeface="DM Sans" pitchFamily="34" charset="-122"/>
                <a:cs typeface="DM Sans" pitchFamily="34" charset="-120"/>
              </a:rPr>
              <a:t>OUTPUT</a:t>
            </a:r>
            <a:endParaRPr lang="en-US" sz="1200" dirty="0"/>
          </a:p>
        </p:txBody>
      </p:sp>
      <p:sp>
        <p:nvSpPr>
          <p:cNvPr id="12" name="Text 10"/>
          <p:cNvSpPr/>
          <p:nvPr/>
        </p:nvSpPr>
        <p:spPr>
          <a:xfrm>
            <a:off x="8083550" y="2063750"/>
            <a:ext cx="3231007"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1F54"/>
                </a:solidFill>
                <a:latin typeface="DM Sans" pitchFamily="34" charset="0"/>
                <a:ea typeface="DM Sans" pitchFamily="34" charset="-122"/>
                <a:cs typeface="DM Sans" pitchFamily="34" charset="-120"/>
              </a:rPr>
              <a:t>scores, Telegram alerts, a pause flag</a:t>
            </a:r>
            <a:endParaRPr lang="en-US" sz="1300" dirty="0"/>
          </a:p>
        </p:txBody>
      </p:sp>
      <p:sp>
        <p:nvSpPr>
          <p:cNvPr id="13" name="Text 11"/>
          <p:cNvSpPr/>
          <p:nvPr/>
        </p:nvSpPr>
        <p:spPr>
          <a:xfrm>
            <a:off x="812800" y="2746059"/>
            <a:ext cx="1200531"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157A4C"/>
                </a:solidFill>
                <a:latin typeface="DM Sans" pitchFamily="34" charset="0"/>
                <a:ea typeface="DM Sans" pitchFamily="34" charset="-122"/>
                <a:cs typeface="DM Sans" pitchFamily="34" charset="-120"/>
              </a:rPr>
              <a:t>1 · COLLECT</a:t>
            </a:r>
            <a:endParaRPr lang="en-US" sz="1300" dirty="0"/>
          </a:p>
        </p:txBody>
      </p:sp>
      <p:sp>
        <p:nvSpPr>
          <p:cNvPr id="14" name="Shape 12"/>
          <p:cNvSpPr/>
          <p:nvPr/>
        </p:nvSpPr>
        <p:spPr>
          <a:xfrm>
            <a:off x="2352675" y="2554604"/>
            <a:ext cx="2952750" cy="614045"/>
          </a:xfrm>
          <a:prstGeom prst="roundRect">
            <a:avLst>
              <a:gd name="adj" fmla="val 13961"/>
            </a:avLst>
          </a:prstGeom>
          <a:solidFill>
            <a:srgbClr val="FFFFFF"/>
          </a:solidFill>
          <a:ln w="6350">
            <a:solidFill>
              <a:srgbClr val="D9E1F2"/>
            </a:solidFill>
            <a:prstDash val="solid"/>
          </a:ln>
        </p:spPr>
      </p:sp>
      <p:sp>
        <p:nvSpPr>
          <p:cNvPr id="15" name="Text 13"/>
          <p:cNvSpPr/>
          <p:nvPr/>
        </p:nvSpPr>
        <p:spPr>
          <a:xfrm>
            <a:off x="2457450" y="2646679"/>
            <a:ext cx="282549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Schedule</a:t>
            </a:r>
            <a:endParaRPr lang="en-US" sz="1300" dirty="0"/>
          </a:p>
        </p:txBody>
      </p:sp>
      <p:sp>
        <p:nvSpPr>
          <p:cNvPr id="16" name="Text 14"/>
          <p:cNvSpPr/>
          <p:nvPr/>
        </p:nvSpPr>
        <p:spPr>
          <a:xfrm>
            <a:off x="2457450" y="2878454"/>
            <a:ext cx="282549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every 15 minutes</a:t>
            </a:r>
            <a:endParaRPr lang="en-US" sz="1200" dirty="0"/>
          </a:p>
        </p:txBody>
      </p:sp>
      <p:sp>
        <p:nvSpPr>
          <p:cNvPr id="17" name="Shape 15"/>
          <p:cNvSpPr/>
          <p:nvPr/>
        </p:nvSpPr>
        <p:spPr>
          <a:xfrm>
            <a:off x="5387975" y="2554604"/>
            <a:ext cx="2952750" cy="614045"/>
          </a:xfrm>
          <a:prstGeom prst="roundRect">
            <a:avLst>
              <a:gd name="adj" fmla="val 13961"/>
            </a:avLst>
          </a:prstGeom>
          <a:solidFill>
            <a:srgbClr val="FFFFFF"/>
          </a:solidFill>
          <a:ln w="6350">
            <a:solidFill>
              <a:srgbClr val="D9E1F2"/>
            </a:solidFill>
            <a:prstDash val="solid"/>
          </a:ln>
        </p:spPr>
      </p:sp>
      <p:sp>
        <p:nvSpPr>
          <p:cNvPr id="18" name="Text 16"/>
          <p:cNvSpPr/>
          <p:nvPr/>
        </p:nvSpPr>
        <p:spPr>
          <a:xfrm>
            <a:off x="5492750" y="2646679"/>
            <a:ext cx="282549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LangSmith runs</a:t>
            </a:r>
            <a:endParaRPr lang="en-US" sz="1300" dirty="0"/>
          </a:p>
        </p:txBody>
      </p:sp>
      <p:sp>
        <p:nvSpPr>
          <p:cNvPr id="19" name="Text 17"/>
          <p:cNvSpPr/>
          <p:nvPr/>
        </p:nvSpPr>
        <p:spPr>
          <a:xfrm>
            <a:off x="5492750" y="2878454"/>
            <a:ext cx="282549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project n8n-Healthcare-local</a:t>
            </a:r>
            <a:endParaRPr lang="en-US" sz="1200" dirty="0"/>
          </a:p>
        </p:txBody>
      </p:sp>
      <p:sp>
        <p:nvSpPr>
          <p:cNvPr id="20" name="Shape 18"/>
          <p:cNvSpPr/>
          <p:nvPr/>
        </p:nvSpPr>
        <p:spPr>
          <a:xfrm>
            <a:off x="8423275" y="2554604"/>
            <a:ext cx="2952750" cy="614045"/>
          </a:xfrm>
          <a:prstGeom prst="roundRect">
            <a:avLst>
              <a:gd name="adj" fmla="val 13961"/>
            </a:avLst>
          </a:prstGeom>
          <a:solidFill>
            <a:srgbClr val="FFFFFF"/>
          </a:solidFill>
          <a:ln w="6350">
            <a:solidFill>
              <a:srgbClr val="D9E1F2"/>
            </a:solidFill>
            <a:prstDash val="solid"/>
          </a:ln>
        </p:spPr>
      </p:sp>
      <p:sp>
        <p:nvSpPr>
          <p:cNvPr id="21" name="Text 19"/>
          <p:cNvSpPr/>
          <p:nvPr/>
        </p:nvSpPr>
        <p:spPr>
          <a:xfrm>
            <a:off x="8528050" y="2646679"/>
            <a:ext cx="282549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Group by case</a:t>
            </a:r>
            <a:endParaRPr lang="en-US" sz="1300" dirty="0"/>
          </a:p>
        </p:txBody>
      </p:sp>
      <p:sp>
        <p:nvSpPr>
          <p:cNvPr id="22" name="Text 20"/>
          <p:cNvSpPr/>
          <p:nvPr/>
        </p:nvSpPr>
        <p:spPr>
          <a:xfrm>
            <a:off x="8528050" y="2878454"/>
            <a:ext cx="282549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question and answer pairs</a:t>
            </a:r>
            <a:endParaRPr lang="en-US" sz="1200" dirty="0"/>
          </a:p>
        </p:txBody>
      </p:sp>
      <p:sp>
        <p:nvSpPr>
          <p:cNvPr id="23" name="Text 21"/>
          <p:cNvSpPr/>
          <p:nvPr/>
        </p:nvSpPr>
        <p:spPr>
          <a:xfrm>
            <a:off x="812800" y="3518855"/>
            <a:ext cx="978408"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157A4C"/>
                </a:solidFill>
                <a:latin typeface="DM Sans" pitchFamily="34" charset="0"/>
                <a:ea typeface="DM Sans" pitchFamily="34" charset="-122"/>
                <a:cs typeface="DM Sans" pitchFamily="34" charset="-120"/>
              </a:rPr>
              <a:t>2 · JUDGE</a:t>
            </a:r>
            <a:endParaRPr lang="en-US" sz="1300" dirty="0"/>
          </a:p>
        </p:txBody>
      </p:sp>
      <p:sp>
        <p:nvSpPr>
          <p:cNvPr id="24" name="Shape 22"/>
          <p:cNvSpPr/>
          <p:nvPr/>
        </p:nvSpPr>
        <p:spPr>
          <a:xfrm>
            <a:off x="2352675" y="3327400"/>
            <a:ext cx="2952750" cy="614045"/>
          </a:xfrm>
          <a:prstGeom prst="roundRect">
            <a:avLst>
              <a:gd name="adj" fmla="val 13961"/>
            </a:avLst>
          </a:prstGeom>
          <a:solidFill>
            <a:srgbClr val="FFFFFF"/>
          </a:solidFill>
          <a:ln w="6350">
            <a:solidFill>
              <a:srgbClr val="D9E1F2"/>
            </a:solidFill>
            <a:prstDash val="solid"/>
          </a:ln>
        </p:spPr>
      </p:sp>
      <p:sp>
        <p:nvSpPr>
          <p:cNvPr id="25" name="Text 23"/>
          <p:cNvSpPr/>
          <p:nvPr/>
        </p:nvSpPr>
        <p:spPr>
          <a:xfrm>
            <a:off x="2457450" y="3419475"/>
            <a:ext cx="282549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LLM judge</a:t>
            </a:r>
            <a:endParaRPr lang="en-US" sz="1300" dirty="0"/>
          </a:p>
        </p:txBody>
      </p:sp>
      <p:sp>
        <p:nvSpPr>
          <p:cNvPr id="26" name="Text 24"/>
          <p:cNvSpPr/>
          <p:nvPr/>
        </p:nvSpPr>
        <p:spPr>
          <a:xfrm>
            <a:off x="2457450" y="3651250"/>
            <a:ext cx="282549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Gemini Flash-Lite</a:t>
            </a:r>
            <a:endParaRPr lang="en-US" sz="1200" dirty="0"/>
          </a:p>
        </p:txBody>
      </p:sp>
      <p:sp>
        <p:nvSpPr>
          <p:cNvPr id="27" name="Shape 25"/>
          <p:cNvSpPr/>
          <p:nvPr/>
        </p:nvSpPr>
        <p:spPr>
          <a:xfrm>
            <a:off x="5387975" y="3327400"/>
            <a:ext cx="2952750" cy="614045"/>
          </a:xfrm>
          <a:prstGeom prst="roundRect">
            <a:avLst>
              <a:gd name="adj" fmla="val 13961"/>
            </a:avLst>
          </a:prstGeom>
          <a:solidFill>
            <a:srgbClr val="FFFFFF"/>
          </a:solidFill>
          <a:ln w="6350">
            <a:solidFill>
              <a:srgbClr val="D9E1F2"/>
            </a:solidFill>
            <a:prstDash val="solid"/>
          </a:ln>
        </p:spPr>
      </p:sp>
      <p:sp>
        <p:nvSpPr>
          <p:cNvPr id="28" name="Text 26"/>
          <p:cNvSpPr/>
          <p:nvPr/>
        </p:nvSpPr>
        <p:spPr>
          <a:xfrm>
            <a:off x="5492750" y="3419475"/>
            <a:ext cx="282549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Five scores, 1 to 5</a:t>
            </a:r>
            <a:endParaRPr lang="en-US" sz="1300" dirty="0"/>
          </a:p>
        </p:txBody>
      </p:sp>
      <p:sp>
        <p:nvSpPr>
          <p:cNvPr id="29" name="Text 27"/>
          <p:cNvSpPr/>
          <p:nvPr/>
        </p:nvSpPr>
        <p:spPr>
          <a:xfrm>
            <a:off x="5492750" y="3651250"/>
            <a:ext cx="282549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accuracy · grounding · safety</a:t>
            </a:r>
            <a:endParaRPr lang="en-US" sz="1200" dirty="0"/>
          </a:p>
        </p:txBody>
      </p:sp>
      <p:sp>
        <p:nvSpPr>
          <p:cNvPr id="30" name="Shape 28"/>
          <p:cNvSpPr/>
          <p:nvPr/>
        </p:nvSpPr>
        <p:spPr>
          <a:xfrm>
            <a:off x="8423275" y="3327400"/>
            <a:ext cx="2952750" cy="614045"/>
          </a:xfrm>
          <a:prstGeom prst="roundRect">
            <a:avLst>
              <a:gd name="adj" fmla="val 13961"/>
            </a:avLst>
          </a:prstGeom>
          <a:solidFill>
            <a:srgbClr val="FFFFFF"/>
          </a:solidFill>
          <a:ln w="6350">
            <a:solidFill>
              <a:srgbClr val="D9E1F2"/>
            </a:solidFill>
            <a:prstDash val="solid"/>
          </a:ln>
        </p:spPr>
      </p:sp>
      <p:sp>
        <p:nvSpPr>
          <p:cNvPr id="31" name="Text 29"/>
          <p:cNvSpPr/>
          <p:nvPr/>
        </p:nvSpPr>
        <p:spPr>
          <a:xfrm>
            <a:off x="8528050" y="3419475"/>
            <a:ext cx="282549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Plus two more</a:t>
            </a:r>
            <a:endParaRPr lang="en-US" sz="1300" dirty="0"/>
          </a:p>
        </p:txBody>
      </p:sp>
      <p:sp>
        <p:nvSpPr>
          <p:cNvPr id="32" name="Text 30"/>
          <p:cNvSpPr/>
          <p:nvPr/>
        </p:nvSpPr>
        <p:spPr>
          <a:xfrm>
            <a:off x="8528050" y="3651250"/>
            <a:ext cx="282549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format · bias</a:t>
            </a:r>
            <a:endParaRPr lang="en-US" sz="1200" dirty="0"/>
          </a:p>
        </p:txBody>
      </p:sp>
      <p:sp>
        <p:nvSpPr>
          <p:cNvPr id="33" name="Text 31"/>
          <p:cNvSpPr/>
          <p:nvPr/>
        </p:nvSpPr>
        <p:spPr>
          <a:xfrm>
            <a:off x="812800" y="4291645"/>
            <a:ext cx="1050417"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157A4C"/>
                </a:solidFill>
                <a:latin typeface="DM Sans" pitchFamily="34" charset="0"/>
                <a:ea typeface="DM Sans" pitchFamily="34" charset="-122"/>
                <a:cs typeface="DM Sans" pitchFamily="34" charset="-120"/>
              </a:rPr>
              <a:t>3 · DECIDE</a:t>
            </a:r>
            <a:endParaRPr lang="en-US" sz="1300" dirty="0"/>
          </a:p>
        </p:txBody>
      </p:sp>
      <p:sp>
        <p:nvSpPr>
          <p:cNvPr id="34" name="Shape 32"/>
          <p:cNvSpPr/>
          <p:nvPr/>
        </p:nvSpPr>
        <p:spPr>
          <a:xfrm>
            <a:off x="2352675" y="4100196"/>
            <a:ext cx="2952750" cy="614045"/>
          </a:xfrm>
          <a:prstGeom prst="roundRect">
            <a:avLst>
              <a:gd name="adj" fmla="val 13961"/>
            </a:avLst>
          </a:prstGeom>
          <a:solidFill>
            <a:srgbClr val="FFFFFF"/>
          </a:solidFill>
          <a:ln w="6350">
            <a:solidFill>
              <a:srgbClr val="D9E1F2"/>
            </a:solidFill>
            <a:prstDash val="solid"/>
          </a:ln>
        </p:spPr>
      </p:sp>
      <p:sp>
        <p:nvSpPr>
          <p:cNvPr id="35" name="Text 33"/>
          <p:cNvSpPr/>
          <p:nvPr/>
        </p:nvSpPr>
        <p:spPr>
          <a:xfrm>
            <a:off x="2457450" y="4192271"/>
            <a:ext cx="282549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Hard stop</a:t>
            </a:r>
            <a:endParaRPr lang="en-US" sz="1300" dirty="0"/>
          </a:p>
        </p:txBody>
      </p:sp>
      <p:sp>
        <p:nvSpPr>
          <p:cNvPr id="36" name="Text 34"/>
          <p:cNvSpPr/>
          <p:nvPr/>
        </p:nvSpPr>
        <p:spPr>
          <a:xfrm>
            <a:off x="2457450" y="4424046"/>
            <a:ext cx="282549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safety score 1: pause the system</a:t>
            </a:r>
            <a:endParaRPr lang="en-US" sz="1200" dirty="0"/>
          </a:p>
        </p:txBody>
      </p:sp>
      <p:sp>
        <p:nvSpPr>
          <p:cNvPr id="37" name="Shape 35"/>
          <p:cNvSpPr/>
          <p:nvPr/>
        </p:nvSpPr>
        <p:spPr>
          <a:xfrm>
            <a:off x="5387975" y="4100196"/>
            <a:ext cx="2952750" cy="614045"/>
          </a:xfrm>
          <a:prstGeom prst="roundRect">
            <a:avLst>
              <a:gd name="adj" fmla="val 13961"/>
            </a:avLst>
          </a:prstGeom>
          <a:solidFill>
            <a:srgbClr val="FFFFFF"/>
          </a:solidFill>
          <a:ln w="6350">
            <a:solidFill>
              <a:srgbClr val="D9E1F2"/>
            </a:solidFill>
            <a:prstDash val="solid"/>
          </a:ln>
        </p:spPr>
      </p:sp>
      <p:sp>
        <p:nvSpPr>
          <p:cNvPr id="38" name="Text 36"/>
          <p:cNvSpPr/>
          <p:nvPr/>
        </p:nvSpPr>
        <p:spPr>
          <a:xfrm>
            <a:off x="5492750" y="4192271"/>
            <a:ext cx="282549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Soft alert</a:t>
            </a:r>
            <a:endParaRPr lang="en-US" sz="1300" dirty="0"/>
          </a:p>
        </p:txBody>
      </p:sp>
      <p:sp>
        <p:nvSpPr>
          <p:cNvPr id="39" name="Text 37"/>
          <p:cNvSpPr/>
          <p:nvPr/>
        </p:nvSpPr>
        <p:spPr>
          <a:xfrm>
            <a:off x="5492750" y="4424046"/>
            <a:ext cx="282549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average safety under 4</a:t>
            </a:r>
            <a:endParaRPr lang="en-US" sz="1200" dirty="0"/>
          </a:p>
        </p:txBody>
      </p:sp>
      <p:sp>
        <p:nvSpPr>
          <p:cNvPr id="40" name="Shape 38"/>
          <p:cNvSpPr/>
          <p:nvPr/>
        </p:nvSpPr>
        <p:spPr>
          <a:xfrm>
            <a:off x="8423275" y="4100196"/>
            <a:ext cx="2952750" cy="614045"/>
          </a:xfrm>
          <a:prstGeom prst="roundRect">
            <a:avLst>
              <a:gd name="adj" fmla="val 13961"/>
            </a:avLst>
          </a:prstGeom>
          <a:solidFill>
            <a:srgbClr val="FFFFFF"/>
          </a:solidFill>
          <a:ln w="6350">
            <a:solidFill>
              <a:srgbClr val="D9E1F2"/>
            </a:solidFill>
            <a:prstDash val="solid"/>
          </a:ln>
        </p:spPr>
      </p:sp>
      <p:sp>
        <p:nvSpPr>
          <p:cNvPr id="41" name="Text 39"/>
          <p:cNvSpPr/>
          <p:nvPr/>
        </p:nvSpPr>
        <p:spPr>
          <a:xfrm>
            <a:off x="8528050" y="4192271"/>
            <a:ext cx="282549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Soft alert</a:t>
            </a:r>
            <a:endParaRPr lang="en-US" sz="1300" dirty="0"/>
          </a:p>
        </p:txBody>
      </p:sp>
      <p:sp>
        <p:nvSpPr>
          <p:cNvPr id="42" name="Text 40"/>
          <p:cNvSpPr/>
          <p:nvPr/>
        </p:nvSpPr>
        <p:spPr>
          <a:xfrm>
            <a:off x="8528050" y="4424046"/>
            <a:ext cx="282549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failure rate over 20%</a:t>
            </a:r>
            <a:endParaRPr lang="en-US" sz="1200" dirty="0"/>
          </a:p>
        </p:txBody>
      </p:sp>
      <p:sp>
        <p:nvSpPr>
          <p:cNvPr id="43" name="Text 41"/>
          <p:cNvSpPr/>
          <p:nvPr/>
        </p:nvSpPr>
        <p:spPr>
          <a:xfrm>
            <a:off x="812800" y="5064441"/>
            <a:ext cx="1310767" cy="256540"/>
          </a:xfrm>
          <a:prstGeom prst="rect">
            <a:avLst/>
          </a:prstGeom>
          <a:noFill/>
          <a:ln/>
        </p:spPr>
        <p:txBody>
          <a:bodyPr wrap="square" lIns="0" tIns="0" rIns="0" bIns="0" rtlCol="0" anchor="t">
            <a:normAutofit/>
          </a:bodyPr>
          <a:lstStyle/>
          <a:p>
            <a:pPr algn="l" indent="0" marL="0">
              <a:lnSpc>
                <a:spcPts val="1820"/>
              </a:lnSpc>
              <a:buNone/>
            </a:pPr>
            <a:r>
              <a:rPr lang="en-US" sz="1300" b="1" spc="50" kern="0" dirty="0">
                <a:solidFill>
                  <a:srgbClr val="157A4C"/>
                </a:solidFill>
                <a:latin typeface="DM Sans" pitchFamily="34" charset="0"/>
                <a:ea typeface="DM Sans" pitchFamily="34" charset="-122"/>
                <a:cs typeface="DM Sans" pitchFamily="34" charset="-120"/>
              </a:rPr>
              <a:t>4 · CONTROL</a:t>
            </a:r>
            <a:endParaRPr lang="en-US" sz="1300" dirty="0"/>
          </a:p>
        </p:txBody>
      </p:sp>
      <p:sp>
        <p:nvSpPr>
          <p:cNvPr id="44" name="Shape 42"/>
          <p:cNvSpPr/>
          <p:nvPr/>
        </p:nvSpPr>
        <p:spPr>
          <a:xfrm>
            <a:off x="2352675" y="4872992"/>
            <a:ext cx="2952750" cy="614045"/>
          </a:xfrm>
          <a:prstGeom prst="roundRect">
            <a:avLst>
              <a:gd name="adj" fmla="val 13961"/>
            </a:avLst>
          </a:prstGeom>
          <a:solidFill>
            <a:srgbClr val="FFFFFF"/>
          </a:solidFill>
          <a:ln w="6350">
            <a:solidFill>
              <a:srgbClr val="D9E1F2"/>
            </a:solidFill>
            <a:prstDash val="solid"/>
          </a:ln>
        </p:spPr>
      </p:sp>
      <p:sp>
        <p:nvSpPr>
          <p:cNvPr id="45" name="Text 43"/>
          <p:cNvSpPr/>
          <p:nvPr/>
        </p:nvSpPr>
        <p:spPr>
          <a:xfrm>
            <a:off x="2457450" y="4965067"/>
            <a:ext cx="282549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Telegram alert</a:t>
            </a:r>
            <a:endParaRPr lang="en-US" sz="1300" dirty="0"/>
          </a:p>
        </p:txBody>
      </p:sp>
      <p:sp>
        <p:nvSpPr>
          <p:cNvPr id="46" name="Text 44"/>
          <p:cNvSpPr/>
          <p:nvPr/>
        </p:nvSpPr>
        <p:spPr>
          <a:xfrm>
            <a:off x="2457450" y="5196842"/>
            <a:ext cx="282549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to the on-call pharmacist</a:t>
            </a:r>
            <a:endParaRPr lang="en-US" sz="1200" dirty="0"/>
          </a:p>
        </p:txBody>
      </p:sp>
      <p:sp>
        <p:nvSpPr>
          <p:cNvPr id="47" name="Shape 45"/>
          <p:cNvSpPr/>
          <p:nvPr/>
        </p:nvSpPr>
        <p:spPr>
          <a:xfrm>
            <a:off x="5387975" y="4872992"/>
            <a:ext cx="2952750" cy="614045"/>
          </a:xfrm>
          <a:prstGeom prst="roundRect">
            <a:avLst>
              <a:gd name="adj" fmla="val 13961"/>
            </a:avLst>
          </a:prstGeom>
          <a:solidFill>
            <a:srgbClr val="FFFFFF"/>
          </a:solidFill>
          <a:ln w="6350">
            <a:solidFill>
              <a:srgbClr val="D9E1F2"/>
            </a:solidFill>
            <a:prstDash val="solid"/>
          </a:ln>
        </p:spPr>
      </p:sp>
      <p:sp>
        <p:nvSpPr>
          <p:cNvPr id="48" name="Text 46"/>
          <p:cNvSpPr/>
          <p:nvPr/>
        </p:nvSpPr>
        <p:spPr>
          <a:xfrm>
            <a:off x="5492750" y="4965067"/>
            <a:ext cx="282549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Status and metrics</a:t>
            </a:r>
            <a:endParaRPr lang="en-US" sz="1300" dirty="0"/>
          </a:p>
        </p:txBody>
      </p:sp>
      <p:sp>
        <p:nvSpPr>
          <p:cNvPr id="49" name="Text 47"/>
          <p:cNvSpPr/>
          <p:nvPr/>
        </p:nvSpPr>
        <p:spPr>
          <a:xfrm>
            <a:off x="5492750" y="5196842"/>
            <a:ext cx="282549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two webhooks</a:t>
            </a:r>
            <a:endParaRPr lang="en-US" sz="1200" dirty="0"/>
          </a:p>
        </p:txBody>
      </p:sp>
      <p:sp>
        <p:nvSpPr>
          <p:cNvPr id="50" name="Shape 48"/>
          <p:cNvSpPr/>
          <p:nvPr/>
        </p:nvSpPr>
        <p:spPr>
          <a:xfrm>
            <a:off x="8423275" y="4872992"/>
            <a:ext cx="2952750" cy="614045"/>
          </a:xfrm>
          <a:prstGeom prst="roundRect">
            <a:avLst>
              <a:gd name="adj" fmla="val 13961"/>
            </a:avLst>
          </a:prstGeom>
          <a:solidFill>
            <a:srgbClr val="FFFFFF"/>
          </a:solidFill>
          <a:ln w="6350">
            <a:solidFill>
              <a:srgbClr val="D9E1F2"/>
            </a:solidFill>
            <a:prstDash val="solid"/>
          </a:ln>
        </p:spPr>
      </p:sp>
      <p:sp>
        <p:nvSpPr>
          <p:cNvPr id="51" name="Text 49"/>
          <p:cNvSpPr/>
          <p:nvPr/>
        </p:nvSpPr>
        <p:spPr>
          <a:xfrm>
            <a:off x="8528050" y="4965067"/>
            <a:ext cx="2825496" cy="231775"/>
          </a:xfrm>
          <a:prstGeom prst="rect">
            <a:avLst/>
          </a:prstGeom>
          <a:noFill/>
          <a:ln/>
        </p:spPr>
        <p:txBody>
          <a:bodyPr wrap="square" lIns="0" tIns="0" rIns="0" bIns="0" rtlCol="0" anchor="t">
            <a:normAutofit/>
          </a:bodyPr>
          <a:lstStyle/>
          <a:p>
            <a:pPr algn="l" indent="0" marL="0">
              <a:lnSpc>
                <a:spcPts val="1625"/>
              </a:lnSpc>
              <a:buNone/>
            </a:pPr>
            <a:r>
              <a:rPr lang="en-US" sz="1300" b="1" dirty="0">
                <a:solidFill>
                  <a:srgbClr val="121F54"/>
                </a:solidFill>
                <a:latin typeface="DM Sans" pitchFamily="34" charset="0"/>
                <a:ea typeface="DM Sans" pitchFamily="34" charset="-122"/>
                <a:cs typeface="DM Sans" pitchFamily="34" charset="-120"/>
              </a:rPr>
              <a:t>Resume webhook</a:t>
            </a:r>
            <a:endParaRPr lang="en-US" sz="1300" dirty="0"/>
          </a:p>
        </p:txBody>
      </p:sp>
      <p:sp>
        <p:nvSpPr>
          <p:cNvPr id="52" name="Text 50"/>
          <p:cNvSpPr/>
          <p:nvPr/>
        </p:nvSpPr>
        <p:spPr>
          <a:xfrm>
            <a:off x="8528050" y="5196842"/>
            <a:ext cx="2825496" cy="22352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55618A"/>
                </a:solidFill>
                <a:latin typeface="DM Sans" pitchFamily="34" charset="0"/>
                <a:ea typeface="DM Sans" pitchFamily="34" charset="-122"/>
                <a:cs typeface="DM Sans" pitchFamily="34" charset="-120"/>
              </a:rPr>
              <a:t>a person restarts the system</a:t>
            </a:r>
            <a:endParaRPr lang="en-US" sz="1200" dirty="0"/>
          </a:p>
        </p:txBody>
      </p:sp>
      <p:sp>
        <p:nvSpPr>
          <p:cNvPr id="53" name="Text 51"/>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5618A"/>
                </a:solidFill>
                <a:latin typeface="DM Sans" pitchFamily="34" charset="0"/>
                <a:ea typeface="DM Sans" pitchFamily="34" charset="-122"/>
                <a:cs typeface="DM Sans" pitchFamily="34" charset="-120"/>
              </a:rPr>
              <a:t>ToxWatch · DEPI Track IND3-G2 · synthetic data only</a:t>
            </a:r>
            <a:endParaRPr lang="en-US" sz="1200" dirty="0"/>
          </a:p>
        </p:txBody>
      </p:sp>
      <p:sp>
        <p:nvSpPr>
          <p:cNvPr id="54" name="Text 52"/>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5618A"/>
                </a:solidFill>
                <a:latin typeface="DM Sans" pitchFamily="34" charset="0"/>
                <a:ea typeface="DM Sans" pitchFamily="34" charset="-122"/>
                <a:cs typeface="DM Sans" pitchFamily="34" charset="-120"/>
              </a:rPr>
              <a:t>9 /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F5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6A54F"/>
                </a:solidFill>
                <a:latin typeface="DM Sans" pitchFamily="34" charset="0"/>
                <a:ea typeface="DM Sans" pitchFamily="34" charset="-122"/>
                <a:cs typeface="DM Sans" pitchFamily="34" charset="-120"/>
              </a:rPr>
              <a:t>END-TO-END · STATUS</a:t>
            </a:r>
            <a:endParaRPr lang="en-US" sz="1300" dirty="0"/>
          </a:p>
        </p:txBody>
      </p:sp>
      <p:sp>
        <p:nvSpPr>
          <p:cNvPr id="3" name="Text 1"/>
          <p:cNvSpPr/>
          <p:nvPr>
            <p:ph type="title"/>
          </p:nvPr>
        </p:nvSpPr>
        <p:spPr>
          <a:xfrm>
            <a:off x="812800" y="1120142"/>
            <a:ext cx="10883392" cy="50038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FFFFFF"/>
                </a:solidFill>
                <a:latin typeface="DM Sans" pitchFamily="34" charset="0"/>
                <a:ea typeface="DM Sans" pitchFamily="34" charset="-122"/>
                <a:cs typeface="DM Sans" pitchFamily="34" charset="-120"/>
              </a:rPr>
              <a:t>Three scenarios, end to end</a:t>
            </a:r>
            <a:endParaRPr lang="en-US" sz="3400" dirty="0"/>
          </a:p>
        </p:txBody>
      </p:sp>
      <p:sp>
        <p:nvSpPr>
          <p:cNvPr id="4" name="Shape 2"/>
          <p:cNvSpPr/>
          <p:nvPr/>
        </p:nvSpPr>
        <p:spPr>
          <a:xfrm>
            <a:off x="812800" y="1849121"/>
            <a:ext cx="5435600" cy="2387600"/>
          </a:xfrm>
          <a:prstGeom prst="roundRect">
            <a:avLst>
              <a:gd name="adj" fmla="val 6383"/>
            </a:avLst>
          </a:prstGeom>
          <a:solidFill>
            <a:srgbClr val="1B2C6E"/>
          </a:solidFill>
          <a:ln/>
        </p:spPr>
      </p:sp>
      <p:pic>
        <p:nvPicPr>
          <p:cNvPr id="5" name="Image 0" descr="CheckCircle">    </p:cNvPr>
          <p:cNvPicPr>
            <a:picLocks noChangeAspect="1"/>
          </p:cNvPicPr>
          <p:nvPr/>
        </p:nvPicPr>
        <p:blipFill>
          <a:blip r:embed="rId1"/>
          <a:srcRect l="0" r="0" t="0" b="0"/>
          <a:stretch/>
        </p:blipFill>
        <p:spPr>
          <a:xfrm>
            <a:off x="1066800" y="2077721"/>
            <a:ext cx="279400" cy="279400"/>
          </a:xfrm>
          <a:prstGeom prst="rect">
            <a:avLst/>
          </a:prstGeom>
        </p:spPr>
      </p:pic>
      <p:sp>
        <p:nvSpPr>
          <p:cNvPr id="6" name="Text 3"/>
          <p:cNvSpPr/>
          <p:nvPr/>
        </p:nvSpPr>
        <p:spPr>
          <a:xfrm>
            <a:off x="1473200" y="2085342"/>
            <a:ext cx="4542282"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FFFFF"/>
                </a:solidFill>
                <a:latin typeface="DM Sans" pitchFamily="34" charset="0"/>
                <a:ea typeface="DM Sans" pitchFamily="34" charset="-122"/>
                <a:cs typeface="DM Sans" pitchFamily="34" charset="-120"/>
              </a:rPr>
              <a:t>6 n8n workflows, published and running</a:t>
            </a:r>
            <a:endParaRPr lang="en-US" sz="1600" dirty="0"/>
          </a:p>
        </p:txBody>
      </p:sp>
      <p:pic>
        <p:nvPicPr>
          <p:cNvPr id="7" name="Image 1" descr="CheckCircle">    </p:cNvPr>
          <p:cNvPicPr>
            <a:picLocks noChangeAspect="1"/>
          </p:cNvPicPr>
          <p:nvPr/>
        </p:nvPicPr>
        <p:blipFill>
          <a:blip r:embed="rId2"/>
          <a:srcRect l="0" r="0" t="0" b="0"/>
          <a:stretch/>
        </p:blipFill>
        <p:spPr>
          <a:xfrm>
            <a:off x="1066800" y="2628050"/>
            <a:ext cx="279400" cy="279400"/>
          </a:xfrm>
          <a:prstGeom prst="rect">
            <a:avLst/>
          </a:prstGeom>
        </p:spPr>
      </p:pic>
      <p:sp>
        <p:nvSpPr>
          <p:cNvPr id="8" name="Text 4"/>
          <p:cNvSpPr/>
          <p:nvPr/>
        </p:nvSpPr>
        <p:spPr>
          <a:xfrm>
            <a:off x="1473200" y="2635672"/>
            <a:ext cx="4775200"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FFFFF"/>
                </a:solidFill>
                <a:latin typeface="DM Sans" pitchFamily="34" charset="0"/>
                <a:ea typeface="DM Sans" pitchFamily="34" charset="-122"/>
                <a:cs typeface="DM Sans" pitchFamily="34" charset="-120"/>
              </a:rPr>
              <a:t>Test report · 3 scenarios · 22 issues logged</a:t>
            </a:r>
            <a:endParaRPr lang="en-US" sz="1600" dirty="0"/>
          </a:p>
        </p:txBody>
      </p:sp>
      <p:pic>
        <p:nvPicPr>
          <p:cNvPr id="9" name="Image 2" descr="CheckCircle">    </p:cNvPr>
          <p:cNvPicPr>
            <a:picLocks noChangeAspect="1"/>
          </p:cNvPicPr>
          <p:nvPr/>
        </p:nvPicPr>
        <p:blipFill>
          <a:blip r:embed="rId3"/>
          <a:srcRect l="0" r="0" t="0" b="0"/>
          <a:stretch/>
        </p:blipFill>
        <p:spPr>
          <a:xfrm>
            <a:off x="1066800" y="3178386"/>
            <a:ext cx="279400" cy="279400"/>
          </a:xfrm>
          <a:prstGeom prst="rect">
            <a:avLst/>
          </a:prstGeom>
        </p:spPr>
      </p:pic>
      <p:sp>
        <p:nvSpPr>
          <p:cNvPr id="10" name="Text 5"/>
          <p:cNvSpPr/>
          <p:nvPr/>
        </p:nvSpPr>
        <p:spPr>
          <a:xfrm>
            <a:off x="1473200" y="3186007"/>
            <a:ext cx="4492371"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FFFFF"/>
                </a:solidFill>
                <a:latin typeface="DM Sans" pitchFamily="34" charset="0"/>
                <a:ea typeface="DM Sans" pitchFamily="34" charset="-122"/>
                <a:cs typeface="DM Sans" pitchFamily="34" charset="-120"/>
              </a:rPr>
              <a:t>Business brief · solution design · 5 docs</a:t>
            </a:r>
            <a:endParaRPr lang="en-US" sz="1600" dirty="0"/>
          </a:p>
        </p:txBody>
      </p:sp>
      <p:pic>
        <p:nvPicPr>
          <p:cNvPr id="11" name="Image 3" descr="CheckCircle">    </p:cNvPr>
          <p:cNvPicPr>
            <a:picLocks noChangeAspect="1"/>
          </p:cNvPicPr>
          <p:nvPr/>
        </p:nvPicPr>
        <p:blipFill>
          <a:blip r:embed="rId4"/>
          <a:srcRect l="0" r="0" t="0" b="0"/>
          <a:stretch/>
        </p:blipFill>
        <p:spPr>
          <a:xfrm>
            <a:off x="1066800" y="3728721"/>
            <a:ext cx="279400" cy="279400"/>
          </a:xfrm>
          <a:prstGeom prst="rect">
            <a:avLst/>
          </a:prstGeom>
        </p:spPr>
      </p:pic>
      <p:sp>
        <p:nvSpPr>
          <p:cNvPr id="12" name="Text 6"/>
          <p:cNvSpPr/>
          <p:nvPr/>
        </p:nvSpPr>
        <p:spPr>
          <a:xfrm>
            <a:off x="1473200" y="3736342"/>
            <a:ext cx="4219448" cy="28956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FFFFF"/>
                </a:solidFill>
                <a:latin typeface="DM Sans" pitchFamily="34" charset="0"/>
                <a:ea typeface="DM Sans" pitchFamily="34" charset="-122"/>
                <a:cs typeface="DM Sans" pitchFamily="34" charset="-120"/>
              </a:rPr>
              <a:t>10 pitch slides · human scoring sheet</a:t>
            </a:r>
            <a:endParaRPr lang="en-US" sz="1600" dirty="0"/>
          </a:p>
        </p:txBody>
      </p:sp>
      <p:sp>
        <p:nvSpPr>
          <p:cNvPr id="13" name="Text 7"/>
          <p:cNvSpPr/>
          <p:nvPr/>
        </p:nvSpPr>
        <p:spPr>
          <a:xfrm>
            <a:off x="6451600" y="1849121"/>
            <a:ext cx="4927600" cy="520700"/>
          </a:xfrm>
          <a:prstGeom prst="roundRect">
            <a:avLst>
              <a:gd name="adj" fmla="val 24390"/>
            </a:avLst>
          </a:prstGeom>
          <a:solidFill>
            <a:srgbClr val="DFF3E8"/>
          </a:solidFill>
          <a:ln/>
        </p:spPr>
        <p:txBody>
          <a:bodyPr wrap="square" lIns="140603" tIns="89803" rIns="3443" bIns="64403" rtlCol="0" anchor="t">
            <a:normAutofit/>
          </a:bodyPr>
          <a:lstStyle/>
          <a:p>
            <a:pPr algn="l" indent="0" marL="0">
              <a:lnSpc>
                <a:spcPts val="2100"/>
              </a:lnSpc>
              <a:buNone/>
            </a:pPr>
            <a:r>
              <a:rPr lang="en-US" sz="1500" b="1" dirty="0">
                <a:solidFill>
                  <a:srgbClr val="157A4C"/>
                </a:solidFill>
                <a:latin typeface="DM Sans" pitchFamily="34" charset="0"/>
                <a:ea typeface="DM Sans" pitchFamily="34" charset="-122"/>
                <a:cs typeface="DM Sans" pitchFamily="34" charset="-120"/>
              </a:rPr>
              <a:t>S1 · dose 10,000 mg</a:t>
            </a:r>
            <a:endParaRPr lang="en-US" sz="1500" dirty="0"/>
          </a:p>
        </p:txBody>
      </p:sp>
      <p:sp>
        <p:nvSpPr>
          <p:cNvPr id="14" name="Text 8"/>
          <p:cNvSpPr/>
          <p:nvPr/>
        </p:nvSpPr>
        <p:spPr>
          <a:xfrm>
            <a:off x="6451600" y="2471421"/>
            <a:ext cx="4927600" cy="520700"/>
          </a:xfrm>
          <a:prstGeom prst="roundRect">
            <a:avLst>
              <a:gd name="adj" fmla="val 24390"/>
            </a:avLst>
          </a:prstGeom>
          <a:solidFill>
            <a:srgbClr val="DFF3E8"/>
          </a:solidFill>
          <a:ln/>
        </p:spPr>
        <p:txBody>
          <a:bodyPr wrap="square" lIns="140603" tIns="89803" rIns="3443" bIns="64403" rtlCol="0" anchor="t">
            <a:normAutofit/>
          </a:bodyPr>
          <a:lstStyle/>
          <a:p>
            <a:pPr algn="l" indent="0" marL="0">
              <a:lnSpc>
                <a:spcPts val="2100"/>
              </a:lnSpc>
              <a:buNone/>
            </a:pPr>
            <a:r>
              <a:rPr lang="en-US" sz="1500" b="1" dirty="0">
                <a:solidFill>
                  <a:srgbClr val="157A4C"/>
                </a:solidFill>
                <a:latin typeface="DM Sans" pitchFamily="34" charset="0"/>
                <a:ea typeface="DM Sans" pitchFamily="34" charset="-122"/>
                <a:cs typeface="DM Sans" pitchFamily="34" charset="-120"/>
              </a:rPr>
              <a:t>S2 · Arabic, no guess</a:t>
            </a:r>
            <a:endParaRPr lang="en-US" sz="1500" dirty="0"/>
          </a:p>
        </p:txBody>
      </p:sp>
      <p:sp>
        <p:nvSpPr>
          <p:cNvPr id="15" name="Text 9"/>
          <p:cNvSpPr/>
          <p:nvPr/>
        </p:nvSpPr>
        <p:spPr>
          <a:xfrm>
            <a:off x="6451600" y="3093721"/>
            <a:ext cx="4927600" cy="520700"/>
          </a:xfrm>
          <a:prstGeom prst="roundRect">
            <a:avLst>
              <a:gd name="adj" fmla="val 24390"/>
            </a:avLst>
          </a:prstGeom>
          <a:solidFill>
            <a:srgbClr val="DFF3E8"/>
          </a:solidFill>
          <a:ln/>
        </p:spPr>
        <p:txBody>
          <a:bodyPr wrap="square" lIns="140603" tIns="89803" rIns="3443" bIns="64403" rtlCol="0" anchor="t">
            <a:normAutofit/>
          </a:bodyPr>
          <a:lstStyle/>
          <a:p>
            <a:pPr algn="l" indent="0" marL="0">
              <a:lnSpc>
                <a:spcPts val="2100"/>
              </a:lnSpc>
              <a:buNone/>
            </a:pPr>
            <a:r>
              <a:rPr lang="en-US" sz="1500" b="1" dirty="0">
                <a:solidFill>
                  <a:srgbClr val="157A4C"/>
                </a:solidFill>
                <a:latin typeface="DM Sans" pitchFamily="34" charset="0"/>
                <a:ea typeface="DM Sans" pitchFamily="34" charset="-122"/>
                <a:cs typeface="DM Sans" pitchFamily="34" charset="-120"/>
              </a:rPr>
              <a:t>S3 · held for a doctor, then approved</a:t>
            </a:r>
            <a:endParaRPr lang="en-US" sz="1500" dirty="0"/>
          </a:p>
        </p:txBody>
      </p:sp>
      <p:sp>
        <p:nvSpPr>
          <p:cNvPr id="16" name="Text 10"/>
          <p:cNvSpPr/>
          <p:nvPr/>
        </p:nvSpPr>
        <p:spPr>
          <a:xfrm>
            <a:off x="6451600" y="3716021"/>
            <a:ext cx="4927600" cy="520700"/>
          </a:xfrm>
          <a:prstGeom prst="roundRect">
            <a:avLst>
              <a:gd name="adj" fmla="val 24390"/>
            </a:avLst>
          </a:prstGeom>
          <a:solidFill>
            <a:srgbClr val="E3EAFB"/>
          </a:solidFill>
          <a:ln/>
        </p:spPr>
        <p:txBody>
          <a:bodyPr wrap="square" lIns="140603" tIns="89803" rIns="3443" bIns="64403" rtlCol="0" anchor="t">
            <a:normAutofit/>
          </a:bodyPr>
          <a:lstStyle/>
          <a:p>
            <a:pPr algn="l" indent="0" marL="0">
              <a:lnSpc>
                <a:spcPts val="2100"/>
              </a:lnSpc>
              <a:buNone/>
            </a:pPr>
            <a:r>
              <a:rPr lang="en-US" sz="1500" b="1" dirty="0">
                <a:solidFill>
                  <a:srgbClr val="2B47A8"/>
                </a:solidFill>
                <a:latin typeface="DM Sans" pitchFamily="34" charset="0"/>
                <a:ea typeface="DM Sans" pitchFamily="34" charset="-122"/>
                <a:cs typeface="DM Sans" pitchFamily="34" charset="-120"/>
              </a:rPr>
              <a:t>S1–S2: AI judge 5.0 · humans 4.0–4.6</a:t>
            </a:r>
            <a:endParaRPr lang="en-US" sz="1500" dirty="0"/>
          </a:p>
        </p:txBody>
      </p:sp>
      <p:sp>
        <p:nvSpPr>
          <p:cNvPr id="17" name="Text 11"/>
          <p:cNvSpPr/>
          <p:nvPr/>
        </p:nvSpPr>
        <p:spPr>
          <a:xfrm>
            <a:off x="812800" y="4490721"/>
            <a:ext cx="10566400" cy="746760"/>
          </a:xfrm>
          <a:prstGeom prst="roundRect">
            <a:avLst>
              <a:gd name="adj" fmla="val 20408"/>
            </a:avLst>
          </a:prstGeom>
          <a:solidFill>
            <a:srgbClr val="F6A54F"/>
          </a:solidFill>
          <a:ln/>
        </p:spPr>
        <p:txBody>
          <a:bodyPr wrap="square" lIns="260164" tIns="120464" rIns="260164" bIns="120464" rtlCol="0" anchor="ctr">
            <a:normAutofit/>
          </a:bodyPr>
          <a:lstStyle/>
          <a:p>
            <a:pPr algn="ctr" indent="0" marL="0">
              <a:lnSpc>
                <a:spcPts val="3080"/>
              </a:lnSpc>
              <a:buNone/>
            </a:pPr>
            <a:r>
              <a:rPr lang="en-US" sz="2200" b="1" dirty="0">
                <a:solidFill>
                  <a:srgbClr val="121F54"/>
                </a:solidFill>
                <a:latin typeface="DM Sans" pitchFamily="34" charset="0"/>
                <a:ea typeface="DM Sans" pitchFamily="34" charset="-122"/>
                <a:cs typeface="DM Sans" pitchFamily="34" charset="-120"/>
              </a:rPr>
              <a:t>AI drafts · a clinician decides</a:t>
            </a:r>
            <a:endParaRPr lang="en-US" sz="2200" dirty="0"/>
          </a:p>
        </p:txBody>
      </p:sp>
      <p:sp>
        <p:nvSpPr>
          <p:cNvPr id="18" name="Text 1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C6E8"/>
                </a:solidFill>
                <a:latin typeface="DM Sans" pitchFamily="34" charset="0"/>
                <a:ea typeface="DM Sans" pitchFamily="34" charset="-122"/>
                <a:cs typeface="DM Sans" pitchFamily="34" charset="-120"/>
              </a:rPr>
              <a:t>ToxWatch · DEPI Track IND3-G2 · synthetic data only</a:t>
            </a:r>
            <a:endParaRPr lang="en-US" sz="1200" dirty="0"/>
          </a:p>
        </p:txBody>
      </p:sp>
      <p:sp>
        <p:nvSpPr>
          <p:cNvPr id="19" name="Text 1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9C6E8"/>
                </a:solidFill>
                <a:latin typeface="DM Sans" pitchFamily="34" charset="0"/>
                <a:ea typeface="DM Sans" pitchFamily="34" charset="-122"/>
                <a:cs typeface="DM Sans" pitchFamily="34" charset="-120"/>
              </a:rPr>
              <a:t>10 / 10</a:t>
            </a:r>
            <a:endParaRPr lang="en-US" sz="1200" dirty="0"/>
          </a:p>
        </p:txBody>
      </p:sp>
    </p:spTree>
  </p:cSld>
  <p:clrMapOvr>
    <a:masterClrMapping/>
  </p:clrMapOvr>
</p:sld>
</file>

<file path=ppt/theme/theme1.xml><?xml version="1.0" encoding="utf-8"?>
<a:theme xmlns:a="http://schemas.openxmlformats.org/drawingml/2006/main" name="ToxWatch">
  <a:themeElements>
    <a:clrScheme name="ToxWatch">
      <a:dk1>
        <a:srgbClr val="121F54"/>
      </a:dk1>
      <a:lt1>
        <a:srgbClr val="F4F7FC"/>
      </a:lt1>
      <a:dk2>
        <a:srgbClr val="4B557E"/>
      </a:dk2>
      <a:lt2>
        <a:srgbClr val="DDE1EB"/>
      </a:lt2>
      <a:accent1>
        <a:srgbClr val="55618A"/>
      </a:accent1>
      <a:accent2>
        <a:srgbClr val="B3560A"/>
      </a:accent2>
      <a:accent3>
        <a:srgbClr val="157A4C"/>
      </a:accent3>
      <a:accent4>
        <a:srgbClr val="2B47A8"/>
      </a:accent4>
      <a:accent5>
        <a:srgbClr val="6A3FC8"/>
      </a:accent5>
      <a:accent6>
        <a:srgbClr val="1F3A8F"/>
      </a:accent6>
      <a:hlink>
        <a:srgbClr val="0563C1"/>
      </a:hlink>
      <a:folHlink>
        <a:srgbClr val="954F72"/>
      </a:folHlink>
    </a:clrScheme>
    <a:fontScheme name="ToxWatch">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ToxWatch</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2026-10-28T17:27:31Z</dcterms:created>
  <dcterms:modified xsi:type="dcterms:W3CDTF">2026-10-28T17:27:31Z</dcterms:modified>
</cp:coreProperties>
</file>